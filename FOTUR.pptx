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24"/>
  </p:notesMasterIdLst>
  <p:sldIdLst>
    <p:sldId id="257" r:id="rId2"/>
    <p:sldId id="260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71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616E7E"/>
          </p15:clr>
        </p15:guide>
        <p15:guide id="2" orient="horz" pos="2160">
          <p15:clr>
            <a:srgbClr val="616E7E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15140F2-5015-96FF-2D0A-08FAB71B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B9F45E01-E548-3851-BD00-13384B9A0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38BA6BF8-2CBF-0E31-A7C7-79CDA1CEE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0925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89E8E09C-8362-52A4-BA2F-06DE5ED4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37685C51-37CE-5546-3BE9-E68E6A6FE8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208611D7-88F4-91CC-8B0A-CF08211463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1793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EAED3B2E-9CDC-034D-0FAE-68B2A90D0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6C9B5129-6CCA-8BEF-24E3-21E60BE0A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AC98D438-F77C-9C1C-88F1-871199E76B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7818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6B40D973-18FA-40A5-4B6D-21560CF3E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FB41186E-B4A0-68C9-A5B2-7A4811EF52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49F27BAD-99D8-3411-E90A-6A4850F8F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8276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648C1B20-2036-E90A-3ABA-65FF90209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A41B30FF-8C02-CE2D-D19F-3BDDE3F47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23973922-BD09-C514-1EAF-FDFFB71C01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1048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7E507DE7-302F-DDC9-D220-ACF406AD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B575F1FD-A6C3-741F-6817-1EF80FA11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2D566CD0-871E-9B23-CA2E-86067537A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839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6682793B-5E50-EA39-8807-3AA2C948E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8DC966B0-7D14-8518-A213-B5640CB52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D1D6169A-8D8B-BFAD-6918-5CD5207F73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1673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5D1D4254-E332-EC3F-343C-C419A594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B971A4B4-5137-69EA-2535-79E04CA6C7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455337C2-0D31-F786-D2F1-D8B973D33D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0936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24A1B415-13EF-0CEB-C524-2BF45468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A48FE0ED-DE7E-087F-2F46-517E9C5DAE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D6A8A994-706E-CF08-46F9-40021A6C76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0439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33135B56-69B1-8C0D-222D-45073BD97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B22CB63E-F97D-3AD5-0296-15F9E6569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3DB47A6C-F82E-D465-9F0F-11E3C8E28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6369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444AAA29-FF6D-FA9F-3C5C-25433CD7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36023ED2-9E63-C9AC-43D1-4236E2BFD8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D8FA065E-6E25-247E-D0F7-21631B12F0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5217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F35DE004-A025-B1CD-7874-98BE731ED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40E2FC81-FCFD-2A9E-F8D1-8D5259D097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5C806042-4816-D2E6-988A-ECC283C55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0529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B2BF38E-C7B7-0F0E-B78E-793BE2E3E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5C13A629-40C4-1C41-E84B-A2DC0BCD92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84C3F16E-232A-B9F0-E8E5-E703F080D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4544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EFDBCAA4-2029-CD5E-F588-69690E98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6201B911-EE84-0019-EB38-DDDD7D3610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855C6942-91A7-B4E6-96AD-BF78F86BD0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8898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FB05E93-6F36-A35A-D2A3-DDCEAA303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3A413257-AF2F-7D57-8511-7C549D6AD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42B87AD5-D35E-ABE3-F8C1-16DF7FDBDA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7673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1D21EECE-82B2-BD75-CCE0-81B26CE43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E7B6AA5F-CCE8-CA77-EF84-D5D59C8E6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07F7AE5A-5027-DADA-0984-443E4B6D8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26672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17D45733-A670-2F4B-3242-D317508E5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7E35D5D4-D2AE-B9CA-B92B-506EEE517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78332236-1B91-424E-1333-3A3613003B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76107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8BABCFCE-CD19-0311-BAB2-E9632513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899CA6ED-F712-5118-9420-ED66109BC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A9E99751-AFB4-2A01-680E-B6B958186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7368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400B508F-E5F6-1445-DB56-0D37B28A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93C3CE24-3619-C7E4-BE8A-DF2B8C009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5BB5E511-769E-D34F-60A6-F72AD82B00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26323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Титульный слайд">
  <p:cSld name="2_Титульный слайд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32620" y="6190111"/>
            <a:ext cx="77614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32620" y="4518778"/>
            <a:ext cx="7761469" cy="148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2"/>
          </p:nvPr>
        </p:nvSpPr>
        <p:spPr>
          <a:xfrm>
            <a:off x="10331822" y="6190111"/>
            <a:ext cx="144911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618" y="443502"/>
            <a:ext cx="1516070" cy="60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азделитель темный">
  <p:cSld name="Разделитель темный">
    <p:bg>
      <p:bgPr>
        <a:solidFill>
          <a:srgbClr val="151515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432619" y="442994"/>
            <a:ext cx="9415914" cy="5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11196443" y="443503"/>
            <a:ext cx="562938" cy="401047"/>
          </a:xfrm>
          <a:custGeom>
            <a:avLst/>
            <a:gdLst/>
            <a:ahLst/>
            <a:cxnLst/>
            <a:rect l="l" t="t" r="r" b="b"/>
            <a:pathLst>
              <a:path w="564708" h="402308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Спасибо за внимание">
  <p:cSld name="Спасибо за внимание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422680" y="5139118"/>
            <a:ext cx="6115050" cy="148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ru-RU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Спасибо </a:t>
            </a:r>
            <a:br>
              <a:rPr lang="ru-RU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 внимание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618" y="443502"/>
            <a:ext cx="1516070" cy="60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432619" y="5806118"/>
            <a:ext cx="9266646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8585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11196443" y="443503"/>
            <a:ext cx="562938" cy="401047"/>
          </a:xfrm>
          <a:custGeom>
            <a:avLst/>
            <a:gdLst/>
            <a:ahLst/>
            <a:cxnLst/>
            <a:rect l="l" t="t" r="r" b="b"/>
            <a:pathLst>
              <a:path w="564708" h="402308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6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72">
          <p15:clr>
            <a:srgbClr val="A4A3A4"/>
          </p15:clr>
        </p15:guide>
        <p15:guide id="2" pos="393">
          <p15:clr>
            <a:srgbClr val="AFE0FF"/>
          </p15:clr>
        </p15:guide>
        <p15:guide id="3" pos="514">
          <p15:clr>
            <a:srgbClr val="AFE0FF"/>
          </p15:clr>
        </p15:guide>
        <p15:guide id="4" pos="634">
          <p15:clr>
            <a:srgbClr val="AFE0FF"/>
          </p15:clr>
        </p15:guide>
        <p15:guide id="5" pos="755">
          <p15:clr>
            <a:srgbClr val="AFE0FF"/>
          </p15:clr>
        </p15:guide>
        <p15:guide id="6" pos="876">
          <p15:clr>
            <a:srgbClr val="AFE0FF"/>
          </p15:clr>
        </p15:guide>
        <p15:guide id="7" pos="997">
          <p15:clr>
            <a:srgbClr val="AFE0FF"/>
          </p15:clr>
        </p15:guide>
        <p15:guide id="8" pos="1118">
          <p15:clr>
            <a:srgbClr val="AFE0FF"/>
          </p15:clr>
        </p15:guide>
        <p15:guide id="9" pos="1239">
          <p15:clr>
            <a:srgbClr val="AFE0FF"/>
          </p15:clr>
        </p15:guide>
        <p15:guide id="10" pos="1360">
          <p15:clr>
            <a:srgbClr val="AFE0FF"/>
          </p15:clr>
        </p15:guide>
        <p15:guide id="11" pos="1481">
          <p15:clr>
            <a:srgbClr val="AFE0FF"/>
          </p15:clr>
        </p15:guide>
        <p15:guide id="12" pos="1602">
          <p15:clr>
            <a:srgbClr val="AFE0FF"/>
          </p15:clr>
        </p15:guide>
        <p15:guide id="13" pos="1723">
          <p15:clr>
            <a:srgbClr val="AFE0FF"/>
          </p15:clr>
        </p15:guide>
        <p15:guide id="14" pos="1844">
          <p15:clr>
            <a:srgbClr val="AFE0FF"/>
          </p15:clr>
        </p15:guide>
        <p15:guide id="15" pos="1958">
          <p15:clr>
            <a:srgbClr val="A4A3A4"/>
          </p15:clr>
        </p15:guide>
        <p15:guide id="16" pos="2094">
          <p15:clr>
            <a:srgbClr val="A4A3A4"/>
          </p15:clr>
        </p15:guide>
        <p15:guide id="17" pos="2207">
          <p15:clr>
            <a:srgbClr val="AFE0FF"/>
          </p15:clr>
        </p15:guide>
        <p15:guide id="18" pos="2328">
          <p15:clr>
            <a:srgbClr val="AFE0FF"/>
          </p15:clr>
        </p15:guide>
        <p15:guide id="19" pos="2449">
          <p15:clr>
            <a:srgbClr val="AFE0FF"/>
          </p15:clr>
        </p15:guide>
        <p15:guide id="20" pos="2570">
          <p15:clr>
            <a:srgbClr val="A4A3A4"/>
          </p15:clr>
        </p15:guide>
        <p15:guide id="21" pos="2691">
          <p15:clr>
            <a:srgbClr val="A4A3A4"/>
          </p15:clr>
        </p15:guide>
        <p15:guide id="22" pos="2811">
          <p15:clr>
            <a:srgbClr val="AFE0FF"/>
          </p15:clr>
        </p15:guide>
        <p15:guide id="23" pos="2932">
          <p15:clr>
            <a:srgbClr val="AFE0FF"/>
          </p15:clr>
        </p15:guide>
        <p15:guide id="24" pos="3053">
          <p15:clr>
            <a:srgbClr val="AFE0FF"/>
          </p15:clr>
        </p15:guide>
        <p15:guide id="25" pos="3174">
          <p15:clr>
            <a:srgbClr val="AFE0FF"/>
          </p15:clr>
        </p15:guide>
        <p15:guide id="26" pos="3295">
          <p15:clr>
            <a:srgbClr val="AFE0FF"/>
          </p15:clr>
        </p15:guide>
        <p15:guide id="27" pos="3416">
          <p15:clr>
            <a:srgbClr val="AFE0FF"/>
          </p15:clr>
        </p15:guide>
        <p15:guide id="28" pos="3537">
          <p15:clr>
            <a:srgbClr val="AFE0FF"/>
          </p15:clr>
        </p15:guide>
        <p15:guide id="29" pos="3658">
          <p15:clr>
            <a:srgbClr val="AFE0FF"/>
          </p15:clr>
        </p15:guide>
        <p15:guide id="30" pos="3779">
          <p15:clr>
            <a:srgbClr val="A4A3A4"/>
          </p15:clr>
        </p15:guide>
        <p15:guide id="31" pos="3900">
          <p15:clr>
            <a:srgbClr val="A4A3A4"/>
          </p15:clr>
        </p15:guide>
        <p15:guide id="32" pos="4021">
          <p15:clr>
            <a:srgbClr val="AFE0FF"/>
          </p15:clr>
        </p15:guide>
        <p15:guide id="33" pos="4142">
          <p15:clr>
            <a:srgbClr val="AFE0FF"/>
          </p15:clr>
        </p15:guide>
        <p15:guide id="34" pos="4263">
          <p15:clr>
            <a:srgbClr val="AFE0FF"/>
          </p15:clr>
        </p15:guide>
        <p15:guide id="35" pos="4384">
          <p15:clr>
            <a:srgbClr val="AFE0FF"/>
          </p15:clr>
        </p15:guide>
        <p15:guide id="36" pos="4505">
          <p15:clr>
            <a:srgbClr val="AFE0FF"/>
          </p15:clr>
        </p15:guide>
        <p15:guide id="37" pos="4626">
          <p15:clr>
            <a:srgbClr val="AFE0FF"/>
          </p15:clr>
        </p15:guide>
        <p15:guide id="38" pos="4747">
          <p15:clr>
            <a:srgbClr val="AFE0FF"/>
          </p15:clr>
        </p15:guide>
        <p15:guide id="39" pos="4868">
          <p15:clr>
            <a:srgbClr val="AFE0FF"/>
          </p15:clr>
        </p15:guide>
        <p15:guide id="40" pos="4988">
          <p15:clr>
            <a:srgbClr val="A4A3A4"/>
          </p15:clr>
        </p15:guide>
        <p15:guide id="41" pos="5109">
          <p15:clr>
            <a:srgbClr val="A4A3A4"/>
          </p15:clr>
        </p15:guide>
        <p15:guide id="42" pos="5230">
          <p15:clr>
            <a:srgbClr val="AFE0FF"/>
          </p15:clr>
        </p15:guide>
        <p15:guide id="43" pos="5351">
          <p15:clr>
            <a:srgbClr val="AFE0FF"/>
          </p15:clr>
        </p15:guide>
        <p15:guide id="44" pos="5472">
          <p15:clr>
            <a:srgbClr val="AFE0FF"/>
          </p15:clr>
        </p15:guide>
        <p15:guide id="45" pos="5593">
          <p15:clr>
            <a:srgbClr val="A4A3A4"/>
          </p15:clr>
        </p15:guide>
        <p15:guide id="46" pos="5714">
          <p15:clr>
            <a:srgbClr val="A4A3A4"/>
          </p15:clr>
        </p15:guide>
        <p15:guide id="47" pos="5835">
          <p15:clr>
            <a:srgbClr val="AFE0FF"/>
          </p15:clr>
        </p15:guide>
        <p15:guide id="48" pos="5956">
          <p15:clr>
            <a:srgbClr val="AFE0FF"/>
          </p15:clr>
        </p15:guide>
        <p15:guide id="49" pos="6077">
          <p15:clr>
            <a:srgbClr val="AFE0FF"/>
          </p15:clr>
        </p15:guide>
        <p15:guide id="50" pos="6198">
          <p15:clr>
            <a:srgbClr val="AFE0FF"/>
          </p15:clr>
        </p15:guide>
        <p15:guide id="51" pos="6335">
          <p15:clr>
            <a:srgbClr val="AFE0FF"/>
          </p15:clr>
        </p15:guide>
        <p15:guide id="52" pos="6440">
          <p15:clr>
            <a:srgbClr val="AFE0FF"/>
          </p15:clr>
        </p15:guide>
        <p15:guide id="53" pos="6561">
          <p15:clr>
            <a:srgbClr val="AFE0FF"/>
          </p15:clr>
        </p15:guide>
        <p15:guide id="54" pos="6682">
          <p15:clr>
            <a:srgbClr val="AFE0FF"/>
          </p15:clr>
        </p15:guide>
        <p15:guide id="55" pos="6803">
          <p15:clr>
            <a:srgbClr val="AFE0FF"/>
          </p15:clr>
        </p15:guide>
        <p15:guide id="56" pos="6924">
          <p15:clr>
            <a:srgbClr val="AFE0FF"/>
          </p15:clr>
        </p15:guide>
        <p15:guide id="57" pos="7045">
          <p15:clr>
            <a:srgbClr val="AFE0FF"/>
          </p15:clr>
        </p15:guide>
        <p15:guide id="58" pos="7165">
          <p15:clr>
            <a:srgbClr val="AFE0FF"/>
          </p15:clr>
        </p15:guide>
        <p15:guide id="59" pos="7286">
          <p15:clr>
            <a:srgbClr val="AFE0FF"/>
          </p15:clr>
        </p15:guide>
        <p15:guide id="60" pos="7407">
          <p15:clr>
            <a:srgbClr val="A4A3A4"/>
          </p15:clr>
        </p15:guide>
        <p15:guide id="61" orient="horz" pos="272">
          <p15:clr>
            <a:srgbClr val="A4A3A4"/>
          </p15:clr>
        </p15:guide>
        <p15:guide id="62" orient="horz" pos="393">
          <p15:clr>
            <a:srgbClr val="AFE0FF"/>
          </p15:clr>
        </p15:guide>
        <p15:guide id="63" orient="horz" pos="504">
          <p15:clr>
            <a:srgbClr val="AFE0FF"/>
          </p15:clr>
        </p15:guide>
        <p15:guide id="64" orient="horz" pos="637">
          <p15:clr>
            <a:srgbClr val="AFE0FF"/>
          </p15:clr>
        </p15:guide>
        <p15:guide id="65" orient="horz" pos="754">
          <p15:clr>
            <a:srgbClr val="AFE0FF"/>
          </p15:clr>
        </p15:guide>
        <p15:guide id="66" orient="horz" pos="867">
          <p15:clr>
            <a:srgbClr val="AFE0FF"/>
          </p15:clr>
        </p15:guide>
        <p15:guide id="67" orient="horz" pos="1002">
          <p15:clr>
            <a:srgbClr val="AFE0FF"/>
          </p15:clr>
        </p15:guide>
        <p15:guide id="68" orient="horz" pos="1124">
          <p15:clr>
            <a:srgbClr val="AFE0FF"/>
          </p15:clr>
        </p15:guide>
        <p15:guide id="69" orient="horz" pos="1246">
          <p15:clr>
            <a:srgbClr val="AFE0FF"/>
          </p15:clr>
        </p15:guide>
        <p15:guide id="70" orient="horz" pos="1368">
          <p15:clr>
            <a:srgbClr val="AFE0FF"/>
          </p15:clr>
        </p15:guide>
        <p15:guide id="71" orient="horz" pos="1490">
          <p15:clr>
            <a:srgbClr val="AFE0FF"/>
          </p15:clr>
        </p15:guide>
        <p15:guide id="72" orient="horz" pos="1611">
          <p15:clr>
            <a:srgbClr val="AFE0FF"/>
          </p15:clr>
        </p15:guide>
        <p15:guide id="73" orient="horz" pos="1733">
          <p15:clr>
            <a:srgbClr val="AFE0FF"/>
          </p15:clr>
        </p15:guide>
        <p15:guide id="74" orient="horz" pos="1855">
          <p15:clr>
            <a:srgbClr val="AFE0FF"/>
          </p15:clr>
        </p15:guide>
        <p15:guide id="75" orient="horz" pos="1977">
          <p15:clr>
            <a:srgbClr val="AFE0FF"/>
          </p15:clr>
        </p15:guide>
        <p15:guide id="76" orient="horz" pos="2099">
          <p15:clr>
            <a:srgbClr val="AFE0FF"/>
          </p15:clr>
        </p15:guide>
        <p15:guide id="77" orient="horz" pos="2228">
          <p15:clr>
            <a:srgbClr val="AFE0FF"/>
          </p15:clr>
        </p15:guide>
        <p15:guide id="78" orient="horz" pos="2342">
          <p15:clr>
            <a:srgbClr val="AFE0FF"/>
          </p15:clr>
        </p15:guide>
        <p15:guide id="79" orient="horz" pos="2464">
          <p15:clr>
            <a:srgbClr val="AFE0FF"/>
          </p15:clr>
        </p15:guide>
        <p15:guide id="80" orient="horz" pos="2586">
          <p15:clr>
            <a:srgbClr val="AFE0FF"/>
          </p15:clr>
        </p15:guide>
        <p15:guide id="81" orient="horz" pos="2708">
          <p15:clr>
            <a:srgbClr val="AFE0FF"/>
          </p15:clr>
        </p15:guide>
        <p15:guide id="82" orient="horz" pos="2829">
          <p15:clr>
            <a:srgbClr val="AFE0FF"/>
          </p15:clr>
        </p15:guide>
        <p15:guide id="83" orient="horz" pos="2951">
          <p15:clr>
            <a:srgbClr val="AFE0FF"/>
          </p15:clr>
        </p15:guide>
        <p15:guide id="84" orient="horz" pos="3067">
          <p15:clr>
            <a:srgbClr val="AFE0FF"/>
          </p15:clr>
        </p15:guide>
        <p15:guide id="85" orient="horz" pos="3195">
          <p15:clr>
            <a:srgbClr val="AFE0FF"/>
          </p15:clr>
        </p15:guide>
        <p15:guide id="86" orient="horz" pos="3317">
          <p15:clr>
            <a:srgbClr val="AFE0FF"/>
          </p15:clr>
        </p15:guide>
        <p15:guide id="87" orient="horz" pos="3438">
          <p15:clr>
            <a:srgbClr val="AFE0FF"/>
          </p15:clr>
        </p15:guide>
        <p15:guide id="88" orient="horz" pos="3560">
          <p15:clr>
            <a:srgbClr val="AFE0FF"/>
          </p15:clr>
        </p15:guide>
        <p15:guide id="89" orient="horz" pos="3682">
          <p15:clr>
            <a:srgbClr val="AFE0FF"/>
          </p15:clr>
        </p15:guide>
        <p15:guide id="90" orient="horz" pos="3804">
          <p15:clr>
            <a:srgbClr val="AFE0FF"/>
          </p15:clr>
        </p15:guide>
        <p15:guide id="91" orient="horz" pos="3926">
          <p15:clr>
            <a:srgbClr val="AFE0FF"/>
          </p15:clr>
        </p15:guide>
        <p15:guide id="92" pos="3719">
          <p15:clr>
            <a:srgbClr val="AFE0FF"/>
          </p15:clr>
        </p15:guide>
        <p15:guide id="93" pos="3962">
          <p15:clr>
            <a:srgbClr val="AFE0FF"/>
          </p15:clr>
        </p15:guide>
        <p15:guide id="94" orient="horz" pos="404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432620" y="5799372"/>
            <a:ext cx="77614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dirty="0" err="1"/>
              <a:t>VibeCode</a:t>
            </a:r>
            <a:r>
              <a:rPr lang="en-US" dirty="0"/>
              <a:t>-Jam: </a:t>
            </a:r>
            <a:r>
              <a:rPr lang="ru-RU" dirty="0"/>
              <a:t>Тур Кирилл, Фомин Кирилл, Воронин Егор</a:t>
            </a:r>
            <a:endParaRPr dirty="0"/>
          </a:p>
        </p:txBody>
      </p:sp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432621" y="4922128"/>
            <a:ext cx="776146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ru-RU" dirty="0"/>
              <a:t>Команда </a:t>
            </a:r>
            <a:r>
              <a:rPr lang="en-US" dirty="0"/>
              <a:t>FOTUR</a:t>
            </a:r>
            <a:endParaRPr dirty="0"/>
          </a:p>
        </p:txBody>
      </p:sp>
      <p:sp>
        <p:nvSpPr>
          <p:cNvPr id="2" name="Google Shape;104;p20">
            <a:extLst>
              <a:ext uri="{FF2B5EF4-FFF2-40B4-BE49-F238E27FC236}">
                <a16:creationId xmlns:a16="http://schemas.microsoft.com/office/drawing/2014/main" id="{2F2BD3E0-312E-D495-D649-FC79AD8B4B2F}"/>
              </a:ext>
            </a:extLst>
          </p:cNvPr>
          <p:cNvSpPr txBox="1">
            <a:spLocks/>
          </p:cNvSpPr>
          <p:nvPr/>
        </p:nvSpPr>
        <p:spPr>
          <a:xfrm>
            <a:off x="432620" y="6242571"/>
            <a:ext cx="776147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D8D8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ru-RU" sz="1600" dirty="0"/>
              <a:t>Стек</a:t>
            </a:r>
            <a:r>
              <a:rPr lang="en-US" sz="1600" dirty="0"/>
              <a:t>: Python · </a:t>
            </a:r>
            <a:r>
              <a:rPr lang="en-US" sz="1600" dirty="0" err="1"/>
              <a:t>FastAPI</a:t>
            </a:r>
            <a:r>
              <a:rPr lang="en-US" sz="1600" dirty="0"/>
              <a:t> · Node.js · React · TypeScript · Vite</a:t>
            </a:r>
            <a:endParaRPr lang="ru-RU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432619" y="442994"/>
            <a:ext cx="9415914" cy="5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dirty="0"/>
              <a:t>Цели и задачи проекта</a:t>
            </a:r>
            <a:endParaRPr dirty="0"/>
          </a:p>
        </p:txBody>
      </p:sp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432619" y="1312892"/>
            <a:ext cx="9415914" cy="5545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b="1" dirty="0"/>
              <a:t>Основные цели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ru-RU" dirty="0"/>
              <a:t>Автоматизировать проверку технических навыков кандидатов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ru-RU" dirty="0"/>
              <a:t>Встроить LLM для глубокого анализа решений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ru-RU" dirty="0"/>
              <a:t>Оценивать не только код, но и коммуникации, </a:t>
            </a:r>
            <a:r>
              <a:rPr lang="ru-RU" dirty="0" err="1"/>
              <a:t>soft-skills</a:t>
            </a:r>
            <a:endParaRPr lang="ru-RU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ru-RU" dirty="0"/>
              <a:t>Минимизировать субъективность интервью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ru-RU" dirty="0"/>
              <a:t>Сгенерировать финальный отчёт, пригодный для HR и </a:t>
            </a:r>
            <a:r>
              <a:rPr lang="ru-RU" dirty="0" err="1"/>
              <a:t>техлида</a:t>
            </a:r>
            <a:endParaRPr lang="ru-RU" dirty="0"/>
          </a:p>
          <a:p>
            <a:r>
              <a:rPr lang="ru-RU" b="1" dirty="0"/>
              <a:t>Задачи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ru-RU" dirty="0"/>
              <a:t>Разработать </a:t>
            </a:r>
            <a:r>
              <a:rPr lang="ru-RU" dirty="0" err="1"/>
              <a:t>backend</a:t>
            </a:r>
            <a:r>
              <a:rPr lang="ru-RU" dirty="0"/>
              <a:t> с песочницей для запуска кода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ru-RU" dirty="0"/>
              <a:t>Реализовать </a:t>
            </a:r>
            <a:r>
              <a:rPr lang="ru-RU" dirty="0" err="1"/>
              <a:t>автотесты</a:t>
            </a:r>
            <a:r>
              <a:rPr lang="ru-RU" dirty="0"/>
              <a:t> для проверок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ru-RU" dirty="0"/>
              <a:t>Создать чат-интерфейс, имитирующий формат реального интервью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ru-RU" dirty="0"/>
              <a:t>Добавить античит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ru-RU" dirty="0"/>
              <a:t>Создать систему </a:t>
            </a:r>
            <a:r>
              <a:rPr lang="ru-RU" dirty="0" err="1"/>
              <a:t>soft-skills</a:t>
            </a:r>
            <a:r>
              <a:rPr lang="ru-RU" dirty="0"/>
              <a:t> интервью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ru-RU" dirty="0"/>
              <a:t>Генерировать PDF отчёт высокого качества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F8754F5-D18F-5CC3-84C0-5E3156FC9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191A58C2-597D-7831-FB32-1BB53B5C3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106316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Архитектура проекта (высокоуровневая)</a:t>
            </a:r>
            <a:endParaRPr sz="4000" dirty="0"/>
          </a:p>
        </p:txBody>
      </p:sp>
      <p:sp>
        <p:nvSpPr>
          <p:cNvPr id="125" name="Google Shape;125;p23">
            <a:extLst>
              <a:ext uri="{FF2B5EF4-FFF2-40B4-BE49-F238E27FC236}">
                <a16:creationId xmlns:a16="http://schemas.microsoft.com/office/drawing/2014/main" id="{3292173C-B7D6-A6F2-E353-D19BD9116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2618" y="1020284"/>
            <a:ext cx="9415914" cy="5545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Frontend (React + TS + Vite)</a:t>
            </a:r>
            <a:br>
              <a:rPr lang="en-US" dirty="0"/>
            </a:br>
            <a:r>
              <a:rPr lang="en-US" dirty="0"/>
              <a:t>→ UI </a:t>
            </a:r>
            <a:r>
              <a:rPr lang="ru-RU" dirty="0"/>
              <a:t>интервью, редактор кода, чат, тесты, логи</a:t>
            </a:r>
          </a:p>
          <a:p>
            <a:r>
              <a:rPr lang="en-US" b="1" dirty="0"/>
              <a:t>Backend (</a:t>
            </a:r>
            <a:r>
              <a:rPr lang="en-US" b="1" dirty="0" err="1"/>
              <a:t>FastAPI</a:t>
            </a:r>
            <a:r>
              <a:rPr lang="en-US" b="1" dirty="0"/>
              <a:t>, Python)</a:t>
            </a:r>
            <a:br>
              <a:rPr lang="en-US" dirty="0"/>
            </a:br>
            <a:r>
              <a:rPr lang="en-US" dirty="0"/>
              <a:t>→ API, </a:t>
            </a:r>
            <a:r>
              <a:rPr lang="ru-RU" dirty="0"/>
              <a:t>логика интервью, античит, анализ, отчёт</a:t>
            </a:r>
          </a:p>
          <a:p>
            <a:r>
              <a:rPr lang="en-US" b="1" dirty="0"/>
              <a:t>Sandbox (Node.js + Python subprocess)</a:t>
            </a:r>
            <a:br>
              <a:rPr lang="en-US" dirty="0"/>
            </a:br>
            <a:r>
              <a:rPr lang="en-US" dirty="0"/>
              <a:t>→ </a:t>
            </a:r>
            <a:r>
              <a:rPr lang="ru-RU" dirty="0"/>
              <a:t>Изолированное выполнение кода </a:t>
            </a:r>
            <a:r>
              <a:rPr lang="en-US" dirty="0"/>
              <a:t>JS </a:t>
            </a:r>
            <a:r>
              <a:rPr lang="ru-RU" dirty="0"/>
              <a:t>и </a:t>
            </a:r>
            <a:r>
              <a:rPr lang="en-US" dirty="0"/>
              <a:t>Python</a:t>
            </a:r>
          </a:p>
          <a:p>
            <a:r>
              <a:rPr lang="en-US" b="1" dirty="0"/>
              <a:t>LLM Analysis Layer</a:t>
            </a:r>
            <a:br>
              <a:rPr lang="en-US" dirty="0"/>
            </a:br>
            <a:r>
              <a:rPr lang="en-US" dirty="0"/>
              <a:t>→ </a:t>
            </a:r>
            <a:r>
              <a:rPr lang="ru-RU" dirty="0"/>
              <a:t>три отдельных анализатора:</a:t>
            </a:r>
          </a:p>
          <a:p>
            <a:r>
              <a:rPr lang="ru-RU" dirty="0"/>
              <a:t>анализа кода,</a:t>
            </a:r>
          </a:p>
          <a:p>
            <a:r>
              <a:rPr lang="ru-RU" dirty="0"/>
              <a:t>анализа коммуникации,</a:t>
            </a:r>
          </a:p>
          <a:p>
            <a:r>
              <a:rPr lang="ru-RU" dirty="0"/>
              <a:t>анализа </a:t>
            </a:r>
            <a:r>
              <a:rPr lang="en-US" dirty="0"/>
              <a:t>soft-skills</a:t>
            </a:r>
          </a:p>
          <a:p>
            <a:r>
              <a:rPr lang="en-US" b="1" dirty="0"/>
              <a:t>Report Generator (</a:t>
            </a:r>
            <a:r>
              <a:rPr lang="en-US" b="1" dirty="0" err="1"/>
              <a:t>ReportLab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/>
              <a:t>→ </a:t>
            </a:r>
            <a:r>
              <a:rPr lang="ru-RU" dirty="0"/>
              <a:t>создаёт </a:t>
            </a:r>
            <a:r>
              <a:rPr lang="en-US" dirty="0"/>
              <a:t>PDF</a:t>
            </a:r>
          </a:p>
          <a:p>
            <a:r>
              <a:rPr lang="en-US" b="1" dirty="0"/>
              <a:t>Storage</a:t>
            </a:r>
            <a:br>
              <a:rPr lang="en-US" dirty="0"/>
            </a:br>
            <a:r>
              <a:rPr lang="en-US" dirty="0"/>
              <a:t>→ session memory (in-memory), </a:t>
            </a:r>
            <a:r>
              <a:rPr lang="ru-RU" dirty="0"/>
              <a:t>файлы </a:t>
            </a:r>
            <a:r>
              <a:rPr lang="en-US" dirty="0"/>
              <a:t>reports/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4511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9C35C8BD-510A-7F98-835A-A8E3820E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2C62FAD9-70B8-D396-6266-E5BA1015E0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106316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Архитектура: диаграмма</a:t>
            </a:r>
            <a:endParaRPr sz="4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1B3B23-CD96-6881-A295-BAB3A7453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9" y="935437"/>
            <a:ext cx="7710614" cy="5488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03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C62576AA-B1FF-C07F-A974-CC0568BCE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A936EE3E-40C9-9A8D-5B10-EE20AA7270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106316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Архитектура: диаграмма</a:t>
            </a:r>
            <a:endParaRPr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7725D3-B2B3-03F4-7FB7-AC29A28C7F33}"/>
              </a:ext>
            </a:extLst>
          </p:cNvPr>
          <p:cNvSpPr txBox="1"/>
          <p:nvPr/>
        </p:nvSpPr>
        <p:spPr>
          <a:xfrm>
            <a:off x="445008" y="935437"/>
            <a:ext cx="1130198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Сценарий типичного интервью</a:t>
            </a:r>
          </a:p>
          <a:p>
            <a:r>
              <a:rPr lang="ru-RU" sz="1600" dirty="0">
                <a:solidFill>
                  <a:schemeClr val="bg1"/>
                </a:solidFill>
              </a:rPr>
              <a:t>1. </a:t>
            </a:r>
            <a:r>
              <a:rPr lang="ru-RU" sz="1600" b="1" dirty="0">
                <a:solidFill>
                  <a:schemeClr val="bg1"/>
                </a:solidFill>
              </a:rPr>
              <a:t>Выбор стека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ru-RU" sz="1600" dirty="0">
                <a:solidFill>
                  <a:schemeClr val="bg1"/>
                </a:solidFill>
              </a:rPr>
              <a:t>  - Кандидат открывает веб-интерфейс (</a:t>
            </a:r>
            <a:r>
              <a:rPr lang="en-US" sz="1600" dirty="0">
                <a:solidFill>
                  <a:schemeClr val="bg1"/>
                </a:solidFill>
              </a:rPr>
              <a:t>React + Monaco Editor). → </a:t>
            </a:r>
            <a:r>
              <a:rPr lang="ru-RU" sz="1600" dirty="0">
                <a:solidFill>
                  <a:schemeClr val="bg1"/>
                </a:solidFill>
              </a:rPr>
              <a:t>В чате ИИ-рекрутер предлагает выбрать направление интервью.</a:t>
            </a:r>
            <a:r>
              <a:rPr lang="en-US" sz="1600" dirty="0">
                <a:solidFill>
                  <a:schemeClr val="bg1"/>
                </a:solidFill>
              </a:rPr>
              <a:t> → </a:t>
            </a:r>
            <a:r>
              <a:rPr lang="ru-RU" sz="1600" dirty="0">
                <a:solidFill>
                  <a:schemeClr val="bg1"/>
                </a:solidFill>
              </a:rPr>
              <a:t>Фронтенд отправляет `</a:t>
            </a:r>
            <a:r>
              <a:rPr lang="en-US" sz="1600" dirty="0">
                <a:solidFill>
                  <a:schemeClr val="bg1"/>
                </a:solidFill>
              </a:rPr>
              <a:t>POST /</a:t>
            </a:r>
            <a:r>
              <a:rPr lang="en-US" sz="1600" dirty="0" err="1">
                <a:solidFill>
                  <a:schemeClr val="bg1"/>
                </a:solidFill>
              </a:rPr>
              <a:t>api</a:t>
            </a:r>
            <a:r>
              <a:rPr lang="en-US" sz="1600" dirty="0">
                <a:solidFill>
                  <a:schemeClr val="bg1"/>
                </a:solidFill>
              </a:rPr>
              <a:t>/</a:t>
            </a:r>
            <a:r>
              <a:rPr lang="en-US" sz="1600" dirty="0" err="1">
                <a:solidFill>
                  <a:schemeClr val="bg1"/>
                </a:solidFill>
              </a:rPr>
              <a:t>select_track</a:t>
            </a:r>
            <a:r>
              <a:rPr lang="en-US" sz="1600" dirty="0">
                <a:solidFill>
                  <a:schemeClr val="bg1"/>
                </a:solidFill>
              </a:rPr>
              <a:t>` (`</a:t>
            </a:r>
            <a:r>
              <a:rPr lang="en-US" sz="1600" dirty="0" err="1">
                <a:solidFill>
                  <a:schemeClr val="bg1"/>
                </a:solidFill>
              </a:rPr>
              <a:t>js`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ru-RU" sz="1600" dirty="0">
                <a:solidFill>
                  <a:schemeClr val="bg1"/>
                </a:solidFill>
              </a:rPr>
              <a:t>или `</a:t>
            </a:r>
            <a:r>
              <a:rPr lang="en-US" sz="1600" dirty="0">
                <a:solidFill>
                  <a:schemeClr val="bg1"/>
                </a:solidFill>
              </a:rPr>
              <a:t>python`). → Backend </a:t>
            </a:r>
            <a:r>
              <a:rPr lang="ru-RU" sz="1600" dirty="0">
                <a:solidFill>
                  <a:schemeClr val="bg1"/>
                </a:solidFill>
              </a:rPr>
              <a:t>инициализирует сессию `</a:t>
            </a:r>
            <a:r>
              <a:rPr lang="en-US" sz="1600" dirty="0">
                <a:solidFill>
                  <a:schemeClr val="bg1"/>
                </a:solidFill>
              </a:rPr>
              <a:t>interviews["default"]`.</a:t>
            </a:r>
          </a:p>
          <a:p>
            <a:r>
              <a:rPr lang="en-US" sz="1600" dirty="0">
                <a:solidFill>
                  <a:schemeClr val="bg1"/>
                </a:solidFill>
              </a:rPr>
              <a:t>2. </a:t>
            </a:r>
            <a:r>
              <a:rPr lang="ru-RU" sz="1600" b="1" dirty="0">
                <a:solidFill>
                  <a:schemeClr val="bg1"/>
                </a:solidFill>
              </a:rPr>
              <a:t>Старт интервью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ru-RU" sz="1600" dirty="0">
                <a:solidFill>
                  <a:schemeClr val="bg1"/>
                </a:solidFill>
              </a:rPr>
              <a:t>  - Фронтенд вызывает `</a:t>
            </a:r>
            <a:r>
              <a:rPr lang="en-US" sz="1600" dirty="0">
                <a:solidFill>
                  <a:schemeClr val="bg1"/>
                </a:solidFill>
              </a:rPr>
              <a:t>POST /</a:t>
            </a:r>
            <a:r>
              <a:rPr lang="en-US" sz="1600" dirty="0" err="1">
                <a:solidFill>
                  <a:schemeClr val="bg1"/>
                </a:solidFill>
              </a:rPr>
              <a:t>api</a:t>
            </a:r>
            <a:r>
              <a:rPr lang="en-US" sz="1600" dirty="0">
                <a:solidFill>
                  <a:schemeClr val="bg1"/>
                </a:solidFill>
              </a:rPr>
              <a:t>/</a:t>
            </a:r>
            <a:r>
              <a:rPr lang="en-US" sz="1600" dirty="0" err="1">
                <a:solidFill>
                  <a:schemeClr val="bg1"/>
                </a:solidFill>
              </a:rPr>
              <a:t>start_interview</a:t>
            </a:r>
            <a:r>
              <a:rPr lang="en-US" sz="1600" dirty="0">
                <a:solidFill>
                  <a:schemeClr val="bg1"/>
                </a:solidFill>
              </a:rPr>
              <a:t>`. → Backend </a:t>
            </a:r>
            <a:r>
              <a:rPr lang="ru-RU" sz="1600" dirty="0">
                <a:solidFill>
                  <a:schemeClr val="bg1"/>
                </a:solidFill>
              </a:rPr>
              <a:t>выбирает из `</a:t>
            </a:r>
            <a:r>
              <a:rPr lang="en-US" sz="1600" dirty="0">
                <a:solidFill>
                  <a:schemeClr val="bg1"/>
                </a:solidFill>
              </a:rPr>
              <a:t>TASK_BANK_JS` </a:t>
            </a:r>
            <a:r>
              <a:rPr lang="ru-RU" sz="1600" dirty="0">
                <a:solidFill>
                  <a:schemeClr val="bg1"/>
                </a:solidFill>
              </a:rPr>
              <a:t>или `</a:t>
            </a:r>
            <a:r>
              <a:rPr lang="en-US" sz="1600" dirty="0">
                <a:solidFill>
                  <a:schemeClr val="bg1"/>
                </a:solidFill>
              </a:rPr>
              <a:t>TASK_BANK_PY` </a:t>
            </a:r>
            <a:r>
              <a:rPr lang="ru-RU" sz="1600" dirty="0">
                <a:solidFill>
                  <a:schemeClr val="bg1"/>
                </a:solidFill>
              </a:rPr>
              <a:t>лёгкую задачу (`</a:t>
            </a:r>
            <a:r>
              <a:rPr lang="en-US" sz="1600" dirty="0">
                <a:solidFill>
                  <a:schemeClr val="bg1"/>
                </a:solidFill>
              </a:rPr>
              <a:t>easy`),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  </a:t>
            </a:r>
            <a:r>
              <a:rPr lang="ru-RU" sz="1600" dirty="0">
                <a:solidFill>
                  <a:schemeClr val="bg1"/>
                </a:solidFill>
              </a:rPr>
              <a:t>сохраняет её в `</a:t>
            </a:r>
            <a:r>
              <a:rPr lang="en-US" sz="1600" dirty="0" err="1">
                <a:solidFill>
                  <a:schemeClr val="bg1"/>
                </a:solidFill>
              </a:rPr>
              <a:t>currentTask</a:t>
            </a:r>
            <a:r>
              <a:rPr lang="en-US" sz="1600" dirty="0">
                <a:solidFill>
                  <a:schemeClr val="bg1"/>
                </a:solidFill>
              </a:rPr>
              <a:t>` </a:t>
            </a:r>
            <a:r>
              <a:rPr lang="ru-RU" sz="1600" dirty="0">
                <a:solidFill>
                  <a:schemeClr val="bg1"/>
                </a:solidFill>
              </a:rPr>
              <a:t>и возвращает в ответе `</a:t>
            </a:r>
            <a:r>
              <a:rPr lang="en-US" sz="1600" dirty="0">
                <a:solidFill>
                  <a:schemeClr val="bg1"/>
                </a:solidFill>
              </a:rPr>
              <a:t>task + messages`. → </a:t>
            </a:r>
            <a:r>
              <a:rPr lang="ru-RU" sz="1600" dirty="0">
                <a:solidFill>
                  <a:schemeClr val="bg1"/>
                </a:solidFill>
              </a:rPr>
              <a:t>На фронтенде отображается карточка задания и шаблон кода в редакторе.</a:t>
            </a:r>
          </a:p>
          <a:p>
            <a:r>
              <a:rPr lang="ru-RU" sz="1600" dirty="0">
                <a:solidFill>
                  <a:schemeClr val="bg1"/>
                </a:solidFill>
              </a:rPr>
              <a:t>3. </a:t>
            </a:r>
            <a:r>
              <a:rPr lang="ru-RU" sz="1600" b="1" dirty="0">
                <a:solidFill>
                  <a:schemeClr val="bg1"/>
                </a:solidFill>
              </a:rPr>
              <a:t>Работа над задачей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ru-RU" sz="1600" dirty="0">
                <a:solidFill>
                  <a:schemeClr val="bg1"/>
                </a:solidFill>
              </a:rPr>
              <a:t>  - Кандидат редактирует код в </a:t>
            </a:r>
            <a:r>
              <a:rPr lang="en-US" sz="1600" dirty="0">
                <a:solidFill>
                  <a:schemeClr val="bg1"/>
                </a:solidFill>
              </a:rPr>
              <a:t>Monaco Editor. → </a:t>
            </a:r>
            <a:r>
              <a:rPr lang="ru-RU" sz="1600" dirty="0">
                <a:solidFill>
                  <a:schemeClr val="bg1"/>
                </a:solidFill>
              </a:rPr>
              <a:t>При нажатии «Запустить в песочнице» фронтенд вызывает `</a:t>
            </a:r>
            <a:r>
              <a:rPr lang="en-US" sz="1600" dirty="0">
                <a:solidFill>
                  <a:schemeClr val="bg1"/>
                </a:solidFill>
              </a:rPr>
              <a:t>POST /</a:t>
            </a:r>
            <a:r>
              <a:rPr lang="en-US" sz="1600" dirty="0" err="1">
                <a:solidFill>
                  <a:schemeClr val="bg1"/>
                </a:solidFill>
              </a:rPr>
              <a:t>api</a:t>
            </a:r>
            <a:r>
              <a:rPr lang="en-US" sz="1600" dirty="0">
                <a:solidFill>
                  <a:schemeClr val="bg1"/>
                </a:solidFill>
              </a:rPr>
              <a:t>/compile`. → Backend </a:t>
            </a:r>
            <a:r>
              <a:rPr lang="ru-RU" sz="1600" dirty="0">
                <a:solidFill>
                  <a:schemeClr val="bg1"/>
                </a:solidFill>
              </a:rPr>
              <a:t>через `</a:t>
            </a:r>
            <a:r>
              <a:rPr lang="en-US" sz="1600" dirty="0">
                <a:solidFill>
                  <a:schemeClr val="bg1"/>
                </a:solidFill>
              </a:rPr>
              <a:t>sandbox.py` (`</a:t>
            </a:r>
            <a:r>
              <a:rPr lang="en-US" sz="1600" dirty="0" err="1">
                <a:solidFill>
                  <a:schemeClr val="bg1"/>
                </a:solidFill>
              </a:rPr>
              <a:t>run_js</a:t>
            </a:r>
            <a:r>
              <a:rPr lang="en-US" sz="1600" dirty="0">
                <a:solidFill>
                  <a:schemeClr val="bg1"/>
                </a:solidFill>
              </a:rPr>
              <a:t>` </a:t>
            </a:r>
            <a:r>
              <a:rPr lang="ru-RU" sz="1600" dirty="0">
                <a:solidFill>
                  <a:schemeClr val="bg1"/>
                </a:solidFill>
              </a:rPr>
              <a:t>или `</a:t>
            </a:r>
            <a:r>
              <a:rPr lang="en-US" sz="1600" dirty="0" err="1">
                <a:solidFill>
                  <a:schemeClr val="bg1"/>
                </a:solidFill>
              </a:rPr>
              <a:t>run_py</a:t>
            </a:r>
            <a:r>
              <a:rPr lang="en-US" sz="1600" dirty="0">
                <a:solidFill>
                  <a:schemeClr val="bg1"/>
                </a:solidFill>
              </a:rPr>
              <a:t>`) </a:t>
            </a:r>
            <a:r>
              <a:rPr lang="ru-RU" sz="1600" dirty="0">
                <a:solidFill>
                  <a:schemeClr val="bg1"/>
                </a:solidFill>
              </a:rPr>
              <a:t>выполняет код,</a:t>
            </a:r>
          </a:p>
          <a:p>
            <a:r>
              <a:rPr lang="ru-RU" sz="1600" dirty="0">
                <a:solidFill>
                  <a:schemeClr val="bg1"/>
                </a:solidFill>
              </a:rPr>
              <a:t>   собирает `</a:t>
            </a:r>
            <a:r>
              <a:rPr lang="en-US" sz="1600" dirty="0" err="1">
                <a:solidFill>
                  <a:schemeClr val="bg1"/>
                </a:solidFill>
              </a:rPr>
              <a:t>stdout</a:t>
            </a:r>
            <a:r>
              <a:rPr lang="en-US" sz="1600" dirty="0">
                <a:solidFill>
                  <a:schemeClr val="bg1"/>
                </a:solidFill>
              </a:rPr>
              <a:t>/stderr`, </a:t>
            </a:r>
            <a:r>
              <a:rPr lang="ru-RU" sz="1600" dirty="0">
                <a:solidFill>
                  <a:schemeClr val="bg1"/>
                </a:solidFill>
              </a:rPr>
              <a:t>чинит кодировку (`</a:t>
            </a:r>
            <a:r>
              <a:rPr lang="en-US" sz="1600" dirty="0" err="1">
                <a:solidFill>
                  <a:schemeClr val="bg1"/>
                </a:solidFill>
              </a:rPr>
              <a:t>fix_encoding</a:t>
            </a:r>
            <a:r>
              <a:rPr lang="en-US" sz="1600" dirty="0">
                <a:solidFill>
                  <a:schemeClr val="bg1"/>
                </a:solidFill>
              </a:rPr>
              <a:t>`) </a:t>
            </a:r>
            <a:r>
              <a:rPr lang="ru-RU" sz="1600" dirty="0">
                <a:solidFill>
                  <a:schemeClr val="bg1"/>
                </a:solidFill>
              </a:rPr>
              <a:t>и сохраняет попытку в `</a:t>
            </a:r>
            <a:r>
              <a:rPr lang="en-US" sz="1600" dirty="0">
                <a:solidFill>
                  <a:schemeClr val="bg1"/>
                </a:solidFill>
              </a:rPr>
              <a:t>history`. → </a:t>
            </a:r>
            <a:r>
              <a:rPr lang="ru-RU" sz="1600" dirty="0">
                <a:solidFill>
                  <a:schemeClr val="bg1"/>
                </a:solidFill>
              </a:rPr>
              <a:t>Результат исполнения отображается во вкладке «Логи».</a:t>
            </a:r>
          </a:p>
          <a:p>
            <a:r>
              <a:rPr lang="ru-RU" sz="1600" dirty="0">
                <a:solidFill>
                  <a:schemeClr val="bg1"/>
                </a:solidFill>
              </a:rPr>
              <a:t>4. </a:t>
            </a:r>
            <a:r>
              <a:rPr lang="ru-RU" sz="1600" b="1" dirty="0">
                <a:solidFill>
                  <a:schemeClr val="bg1"/>
                </a:solidFill>
              </a:rPr>
              <a:t>Отправка решения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ru-RU" sz="1600" dirty="0">
                <a:solidFill>
                  <a:schemeClr val="bg1"/>
                </a:solidFill>
              </a:rPr>
              <a:t>  - При нажатии «Готово — отправить» фронтенд вызывает `</a:t>
            </a:r>
            <a:r>
              <a:rPr lang="en-US" sz="1600" dirty="0">
                <a:solidFill>
                  <a:schemeClr val="bg1"/>
                </a:solidFill>
              </a:rPr>
              <a:t>POST /</a:t>
            </a:r>
            <a:r>
              <a:rPr lang="en-US" sz="1600" dirty="0" err="1">
                <a:solidFill>
                  <a:schemeClr val="bg1"/>
                </a:solidFill>
              </a:rPr>
              <a:t>api</a:t>
            </a:r>
            <a:r>
              <a:rPr lang="en-US" sz="1600" dirty="0">
                <a:solidFill>
                  <a:schemeClr val="bg1"/>
                </a:solidFill>
              </a:rPr>
              <a:t>/submit`. → Backend: </a:t>
            </a:r>
            <a:r>
              <a:rPr lang="ru-RU" sz="1600" dirty="0">
                <a:solidFill>
                  <a:schemeClr val="bg1"/>
                </a:solidFill>
              </a:rPr>
              <a:t>запускает </a:t>
            </a:r>
            <a:r>
              <a:rPr lang="ru-RU" sz="1600" dirty="0" err="1">
                <a:solidFill>
                  <a:schemeClr val="bg1"/>
                </a:solidFill>
              </a:rPr>
              <a:t>автотесты</a:t>
            </a:r>
            <a:r>
              <a:rPr lang="ru-RU" sz="1600" dirty="0">
                <a:solidFill>
                  <a:schemeClr val="bg1"/>
                </a:solidFill>
              </a:rPr>
              <a:t> через `</a:t>
            </a:r>
            <a:r>
              <a:rPr lang="en-US" sz="1600" dirty="0" err="1">
                <a:solidFill>
                  <a:schemeClr val="bg1"/>
                </a:solidFill>
              </a:rPr>
              <a:t>run_tests_js</a:t>
            </a:r>
            <a:r>
              <a:rPr lang="en-US" sz="1600" dirty="0">
                <a:solidFill>
                  <a:schemeClr val="bg1"/>
                </a:solidFill>
              </a:rPr>
              <a:t>` / `</a:t>
            </a:r>
            <a:r>
              <a:rPr lang="en-US" sz="1600" dirty="0" err="1">
                <a:solidFill>
                  <a:schemeClr val="bg1"/>
                </a:solidFill>
              </a:rPr>
              <a:t>run_tests_py</a:t>
            </a:r>
            <a:r>
              <a:rPr lang="en-US" sz="1600" dirty="0">
                <a:solidFill>
                  <a:schemeClr val="bg1"/>
                </a:solidFill>
              </a:rPr>
              <a:t>` </a:t>
            </a:r>
            <a:r>
              <a:rPr lang="ru-RU" sz="1600" dirty="0">
                <a:solidFill>
                  <a:schemeClr val="bg1"/>
                </a:solidFill>
              </a:rPr>
              <a:t>и `</a:t>
            </a:r>
            <a:r>
              <a:rPr lang="en-US" sz="1600" dirty="0">
                <a:solidFill>
                  <a:schemeClr val="bg1"/>
                </a:solidFill>
              </a:rPr>
              <a:t>TEST_BANK_*`; → </a:t>
            </a:r>
            <a:r>
              <a:rPr lang="ru-RU" sz="1600" dirty="0">
                <a:solidFill>
                  <a:schemeClr val="bg1"/>
                </a:solidFill>
              </a:rPr>
              <a:t>нормализует формат тестов (</a:t>
            </a:r>
            <a:r>
              <a:rPr lang="en-US" sz="1600" dirty="0">
                <a:solidFill>
                  <a:schemeClr val="bg1"/>
                </a:solidFill>
              </a:rPr>
              <a:t>name, passed, visible); → </a:t>
            </a:r>
            <a:r>
              <a:rPr lang="ru-RU" sz="1600" dirty="0">
                <a:solidFill>
                  <a:schemeClr val="bg1"/>
                </a:solidFill>
              </a:rPr>
              <a:t>считает `</a:t>
            </a:r>
            <a:r>
              <a:rPr lang="en-US" sz="1600" dirty="0" err="1">
                <a:solidFill>
                  <a:schemeClr val="bg1"/>
                </a:solidFill>
              </a:rPr>
              <a:t>tests_score</a:t>
            </a:r>
            <a:r>
              <a:rPr lang="en-US" sz="1600" dirty="0">
                <a:solidFill>
                  <a:schemeClr val="bg1"/>
                </a:solidFill>
              </a:rPr>
              <a:t>`; → </a:t>
            </a:r>
            <a:r>
              <a:rPr lang="ru-RU" sz="1600" dirty="0">
                <a:solidFill>
                  <a:schemeClr val="bg1"/>
                </a:solidFill>
              </a:rPr>
              <a:t>вызывает </a:t>
            </a:r>
            <a:r>
              <a:rPr lang="en-US" sz="1600" dirty="0">
                <a:solidFill>
                  <a:schemeClr val="bg1"/>
                </a:solidFill>
              </a:rPr>
              <a:t>LLM (`</a:t>
            </a:r>
            <a:r>
              <a:rPr lang="en-US" sz="1600" dirty="0" err="1">
                <a:solidFill>
                  <a:schemeClr val="bg1"/>
                </a:solidFill>
              </a:rPr>
              <a:t>analyze_code</a:t>
            </a:r>
            <a:r>
              <a:rPr lang="en-US" sz="1600" dirty="0">
                <a:solidFill>
                  <a:schemeClr val="bg1"/>
                </a:solidFill>
              </a:rPr>
              <a:t>`) </a:t>
            </a:r>
            <a:r>
              <a:rPr lang="ru-RU" sz="1600" dirty="0">
                <a:solidFill>
                  <a:schemeClr val="bg1"/>
                </a:solidFill>
              </a:rPr>
              <a:t>для анализа решения (</a:t>
            </a:r>
            <a:r>
              <a:rPr lang="en-US" sz="1600" dirty="0">
                <a:solidFill>
                  <a:schemeClr val="bg1"/>
                </a:solidFill>
              </a:rPr>
              <a:t>score + comment); → </a:t>
            </a:r>
            <a:r>
              <a:rPr lang="ru-RU" sz="1600" dirty="0">
                <a:solidFill>
                  <a:schemeClr val="bg1"/>
                </a:solidFill>
              </a:rPr>
              <a:t>сохраняет промежуточный результат в `</a:t>
            </a:r>
            <a:r>
              <a:rPr lang="en-US" sz="1600" dirty="0" err="1">
                <a:solidFill>
                  <a:schemeClr val="bg1"/>
                </a:solidFill>
              </a:rPr>
              <a:t>pendingResult</a:t>
            </a:r>
            <a:r>
              <a:rPr lang="en-US" sz="1600" dirty="0">
                <a:solidFill>
                  <a:schemeClr val="bg1"/>
                </a:solidFill>
              </a:rPr>
              <a:t>`; → </a:t>
            </a:r>
            <a:r>
              <a:rPr lang="ru-RU" sz="1600" dirty="0">
                <a:solidFill>
                  <a:schemeClr val="bg1"/>
                </a:solidFill>
              </a:rPr>
              <a:t>формирует сообщение для чата с разбором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23116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8003043-82C3-D3C3-4DFB-9AFD483CC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8B8951A6-F5D1-8AFF-F523-A6FE26B960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106316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Архитектура: диаграмма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3128C-464E-B59E-02F8-7B5036A49E82}"/>
              </a:ext>
            </a:extLst>
          </p:cNvPr>
          <p:cNvSpPr txBox="1"/>
          <p:nvPr/>
        </p:nvSpPr>
        <p:spPr>
          <a:xfrm>
            <a:off x="245098" y="1182231"/>
            <a:ext cx="11698663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5. </a:t>
            </a:r>
            <a:r>
              <a:rPr lang="ru-RU" b="1" dirty="0">
                <a:solidFill>
                  <a:schemeClr val="bg1"/>
                </a:solidFill>
              </a:rPr>
              <a:t>Коммуникационный вопрос по решению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  - </a:t>
            </a:r>
            <a:r>
              <a:rPr lang="en-US" dirty="0">
                <a:solidFill>
                  <a:schemeClr val="bg1"/>
                </a:solidFill>
              </a:rPr>
              <a:t>Backend </a:t>
            </a:r>
            <a:r>
              <a:rPr lang="ru-RU" dirty="0">
                <a:solidFill>
                  <a:schemeClr val="bg1"/>
                </a:solidFill>
              </a:rPr>
              <a:t>генерирует вопрос по коммуникации (объяснить решение, альтернативы и т.п.),</a:t>
            </a:r>
          </a:p>
          <a:p>
            <a:r>
              <a:rPr lang="ru-RU" dirty="0">
                <a:solidFill>
                  <a:schemeClr val="bg1"/>
                </a:solidFill>
              </a:rPr>
              <a:t>   сохраняет его в `</a:t>
            </a:r>
            <a:r>
              <a:rPr lang="en-US" dirty="0">
                <a:solidFill>
                  <a:schemeClr val="bg1"/>
                </a:solidFill>
              </a:rPr>
              <a:t>communications` </a:t>
            </a:r>
            <a:r>
              <a:rPr lang="ru-RU" dirty="0">
                <a:solidFill>
                  <a:schemeClr val="bg1"/>
                </a:solidFill>
              </a:rPr>
              <a:t>и выставляет флаг `</a:t>
            </a:r>
            <a:r>
              <a:rPr lang="en-US" dirty="0" err="1">
                <a:solidFill>
                  <a:schemeClr val="bg1"/>
                </a:solidFill>
              </a:rPr>
              <a:t>waitingCommunication</a:t>
            </a:r>
            <a:r>
              <a:rPr lang="en-US" dirty="0">
                <a:solidFill>
                  <a:schemeClr val="bg1"/>
                </a:solidFill>
              </a:rPr>
              <a:t> = true`. → </a:t>
            </a:r>
            <a:r>
              <a:rPr lang="ru-RU" dirty="0">
                <a:solidFill>
                  <a:schemeClr val="bg1"/>
                </a:solidFill>
              </a:rPr>
              <a:t>Фронтенд показывает </a:t>
            </a:r>
            <a:r>
              <a:rPr lang="en-US" dirty="0" err="1">
                <a:solidFill>
                  <a:schemeClr val="bg1"/>
                </a:solidFill>
              </a:rPr>
              <a:t>textarea</a:t>
            </a:r>
            <a:r>
              <a:rPr lang="en-US" dirty="0">
                <a:solidFill>
                  <a:schemeClr val="bg1"/>
                </a:solidFill>
              </a:rPr>
              <a:t> «</a:t>
            </a:r>
            <a:r>
              <a:rPr lang="ru-RU" dirty="0">
                <a:solidFill>
                  <a:schemeClr val="bg1"/>
                </a:solidFill>
              </a:rPr>
              <a:t>Введите ответ...» и кнопку «Ответить».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ru-RU" dirty="0">
                <a:solidFill>
                  <a:schemeClr val="bg1"/>
                </a:solidFill>
              </a:rPr>
              <a:t>Кандидат пишет объяснение, фронтенд отправляет его на `</a:t>
            </a:r>
            <a:r>
              <a:rPr lang="en-US" dirty="0">
                <a:solidFill>
                  <a:schemeClr val="bg1"/>
                </a:solidFill>
              </a:rPr>
              <a:t>POST 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communication_answer</a:t>
            </a:r>
            <a:r>
              <a:rPr lang="en-US" dirty="0">
                <a:solidFill>
                  <a:schemeClr val="bg1"/>
                </a:solidFill>
              </a:rPr>
              <a:t>`. → Backend: </a:t>
            </a:r>
            <a:r>
              <a:rPr lang="ru-RU" dirty="0">
                <a:solidFill>
                  <a:schemeClr val="bg1"/>
                </a:solidFill>
              </a:rPr>
              <a:t>анализирует ответ через `</a:t>
            </a:r>
            <a:r>
              <a:rPr lang="en-US" dirty="0" err="1">
                <a:solidFill>
                  <a:schemeClr val="bg1"/>
                </a:solidFill>
              </a:rPr>
              <a:t>analyze_communication</a:t>
            </a:r>
            <a:r>
              <a:rPr lang="en-US" dirty="0">
                <a:solidFill>
                  <a:schemeClr val="bg1"/>
                </a:solidFill>
              </a:rPr>
              <a:t>`; → </a:t>
            </a:r>
            <a:r>
              <a:rPr lang="ru-RU" dirty="0">
                <a:solidFill>
                  <a:schemeClr val="bg1"/>
                </a:solidFill>
              </a:rPr>
              <a:t>объединяет оценку кода и коммуникации в итог `</a:t>
            </a:r>
            <a:r>
              <a:rPr lang="en-US" dirty="0" err="1">
                <a:solidFill>
                  <a:schemeClr val="bg1"/>
                </a:solidFill>
              </a:rPr>
              <a:t>final_score</a:t>
            </a:r>
            <a:r>
              <a:rPr lang="en-US" dirty="0">
                <a:solidFill>
                  <a:schemeClr val="bg1"/>
                </a:solidFill>
              </a:rPr>
              <a:t>` </a:t>
            </a:r>
            <a:r>
              <a:rPr lang="ru-RU" dirty="0">
                <a:solidFill>
                  <a:schemeClr val="bg1"/>
                </a:solidFill>
              </a:rPr>
              <a:t>для задачи;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ru-RU" dirty="0">
                <a:solidFill>
                  <a:schemeClr val="bg1"/>
                </a:solidFill>
              </a:rPr>
              <a:t>дописывает итоговый комментарий и сохраняет результат в `</a:t>
            </a:r>
            <a:r>
              <a:rPr lang="en-US" dirty="0">
                <a:solidFill>
                  <a:schemeClr val="bg1"/>
                </a:solidFill>
              </a:rPr>
              <a:t>results`; → </a:t>
            </a:r>
            <a:r>
              <a:rPr lang="ru-RU" dirty="0">
                <a:solidFill>
                  <a:schemeClr val="bg1"/>
                </a:solidFill>
              </a:rPr>
              <a:t>снимает флаг `</a:t>
            </a:r>
            <a:r>
              <a:rPr lang="en-US" dirty="0" err="1">
                <a:solidFill>
                  <a:schemeClr val="bg1"/>
                </a:solidFill>
              </a:rPr>
              <a:t>waitingCommunication</a:t>
            </a:r>
            <a:r>
              <a:rPr lang="en-US" dirty="0">
                <a:solidFill>
                  <a:schemeClr val="bg1"/>
                </a:solidFill>
              </a:rPr>
              <a:t>` </a:t>
            </a:r>
            <a:r>
              <a:rPr lang="ru-RU" dirty="0">
                <a:solidFill>
                  <a:schemeClr val="bg1"/>
                </a:solidFill>
              </a:rPr>
              <a:t>и либо выдаёт следующую задачу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(`</a:t>
            </a:r>
            <a:r>
              <a:rPr lang="en-US" dirty="0">
                <a:solidFill>
                  <a:schemeClr val="bg1"/>
                </a:solidFill>
              </a:rPr>
              <a:t>easy → medium → hard`), </a:t>
            </a:r>
            <a:r>
              <a:rPr lang="ru-RU" dirty="0">
                <a:solidFill>
                  <a:schemeClr val="bg1"/>
                </a:solidFill>
              </a:rPr>
              <a:t>либо переходит на </a:t>
            </a:r>
            <a:r>
              <a:rPr lang="en-US" dirty="0">
                <a:solidFill>
                  <a:schemeClr val="bg1"/>
                </a:solidFill>
              </a:rPr>
              <a:t>soft-skills </a:t>
            </a:r>
            <a:r>
              <a:rPr lang="ru-RU" dirty="0">
                <a:solidFill>
                  <a:schemeClr val="bg1"/>
                </a:solidFill>
              </a:rPr>
              <a:t>блок.</a:t>
            </a:r>
          </a:p>
          <a:p>
            <a:r>
              <a:rPr lang="ru-RU" dirty="0">
                <a:solidFill>
                  <a:schemeClr val="bg1"/>
                </a:solidFill>
              </a:rPr>
              <a:t>6. </a:t>
            </a:r>
            <a:r>
              <a:rPr lang="en-US" b="1" dirty="0">
                <a:solidFill>
                  <a:schemeClr val="bg1"/>
                </a:solidFill>
              </a:rPr>
              <a:t>Soft-skills </a:t>
            </a:r>
            <a:r>
              <a:rPr lang="ru-RU" b="1" dirty="0">
                <a:solidFill>
                  <a:schemeClr val="bg1"/>
                </a:solidFill>
              </a:rPr>
              <a:t>интервью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  - После 3-й технической задачи </a:t>
            </a:r>
            <a:r>
              <a:rPr lang="en-US" dirty="0">
                <a:solidFill>
                  <a:schemeClr val="bg1"/>
                </a:solidFill>
              </a:rPr>
              <a:t>backend: </a:t>
            </a:r>
            <a:r>
              <a:rPr lang="ru-RU" dirty="0">
                <a:solidFill>
                  <a:schemeClr val="bg1"/>
                </a:solidFill>
              </a:rPr>
              <a:t>переключает `</a:t>
            </a:r>
            <a:r>
              <a:rPr lang="en-US" dirty="0" err="1">
                <a:solidFill>
                  <a:schemeClr val="bg1"/>
                </a:solidFill>
              </a:rPr>
              <a:t>soft_stage</a:t>
            </a:r>
            <a:r>
              <a:rPr lang="en-US" dirty="0">
                <a:solidFill>
                  <a:schemeClr val="bg1"/>
                </a:solidFill>
              </a:rPr>
              <a:t> = true`; → </a:t>
            </a:r>
            <a:r>
              <a:rPr lang="ru-RU" dirty="0">
                <a:solidFill>
                  <a:schemeClr val="bg1"/>
                </a:solidFill>
              </a:rPr>
              <a:t>случайно выбирает несколько ситуаций из `</a:t>
            </a:r>
            <a:r>
              <a:rPr lang="en-US" dirty="0">
                <a:solidFill>
                  <a:schemeClr val="bg1"/>
                </a:solidFill>
              </a:rPr>
              <a:t>SOFT_SKILLS_BANK`; → </a:t>
            </a:r>
            <a:r>
              <a:rPr lang="ru-RU" dirty="0">
                <a:solidFill>
                  <a:schemeClr val="bg1"/>
                </a:solidFill>
              </a:rPr>
              <a:t>отправляет первую ситуацию как `</a:t>
            </a:r>
            <a:r>
              <a:rPr lang="en-US" dirty="0" err="1">
                <a:solidFill>
                  <a:schemeClr val="bg1"/>
                </a:solidFill>
              </a:rPr>
              <a:t>soft_question</a:t>
            </a:r>
            <a:r>
              <a:rPr lang="en-US" dirty="0">
                <a:solidFill>
                  <a:schemeClr val="bg1"/>
                </a:solidFill>
              </a:rPr>
              <a:t>`. → </a:t>
            </a:r>
            <a:r>
              <a:rPr lang="ru-RU" dirty="0">
                <a:solidFill>
                  <a:schemeClr val="bg1"/>
                </a:solidFill>
              </a:rPr>
              <a:t>Фронтенд переключает интерфейс: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скрывает редактор кода;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ru-RU" dirty="0">
                <a:solidFill>
                  <a:schemeClr val="bg1"/>
                </a:solidFill>
              </a:rPr>
              <a:t>показывает отдельную панель «</a:t>
            </a:r>
            <a:r>
              <a:rPr lang="en-US" dirty="0">
                <a:solidFill>
                  <a:schemeClr val="bg1"/>
                </a:solidFill>
              </a:rPr>
              <a:t>Soft-skills </a:t>
            </a:r>
            <a:r>
              <a:rPr lang="ru-RU" dirty="0">
                <a:solidFill>
                  <a:schemeClr val="bg1"/>
                </a:solidFill>
              </a:rPr>
              <a:t>интервью» с текстом кейса;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ru-RU" dirty="0">
                <a:solidFill>
                  <a:schemeClr val="bg1"/>
                </a:solidFill>
              </a:rPr>
              <a:t>оставляет слева снизу поле ответа и кнопку «Ответить».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ru-RU" dirty="0">
                <a:solidFill>
                  <a:schemeClr val="bg1"/>
                </a:solidFill>
              </a:rPr>
              <a:t>На каждый ответ фронтенд вызывает `</a:t>
            </a:r>
            <a:r>
              <a:rPr lang="en-US" dirty="0">
                <a:solidFill>
                  <a:schemeClr val="bg1"/>
                </a:solidFill>
              </a:rPr>
              <a:t>POST 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soft_answer</a:t>
            </a:r>
            <a:r>
              <a:rPr lang="en-US" dirty="0">
                <a:solidFill>
                  <a:schemeClr val="bg1"/>
                </a:solidFill>
              </a:rPr>
              <a:t>`. → Backend: → </a:t>
            </a:r>
            <a:r>
              <a:rPr lang="ru-RU" dirty="0">
                <a:solidFill>
                  <a:schemeClr val="bg1"/>
                </a:solidFill>
              </a:rPr>
              <a:t>анализирует ответ через `</a:t>
            </a:r>
            <a:r>
              <a:rPr lang="en-US" dirty="0" err="1">
                <a:solidFill>
                  <a:schemeClr val="bg1"/>
                </a:solidFill>
              </a:rPr>
              <a:t>analyze_soft_skill</a:t>
            </a:r>
            <a:r>
              <a:rPr lang="en-US" dirty="0">
                <a:solidFill>
                  <a:schemeClr val="bg1"/>
                </a:solidFill>
              </a:rPr>
              <a:t>`; → </a:t>
            </a:r>
            <a:r>
              <a:rPr lang="ru-RU" dirty="0">
                <a:solidFill>
                  <a:schemeClr val="bg1"/>
                </a:solidFill>
              </a:rPr>
              <a:t>накапливает результаты в `</a:t>
            </a:r>
            <a:r>
              <a:rPr lang="en-US" dirty="0" err="1">
                <a:solidFill>
                  <a:schemeClr val="bg1"/>
                </a:solidFill>
              </a:rPr>
              <a:t>soft_results</a:t>
            </a:r>
            <a:r>
              <a:rPr lang="en-US" dirty="0">
                <a:solidFill>
                  <a:schemeClr val="bg1"/>
                </a:solidFill>
              </a:rPr>
              <a:t>`; → </a:t>
            </a:r>
            <a:r>
              <a:rPr lang="ru-RU" dirty="0">
                <a:solidFill>
                  <a:schemeClr val="bg1"/>
                </a:solidFill>
              </a:rPr>
              <a:t>выдаёт следующий </a:t>
            </a:r>
            <a:r>
              <a:rPr lang="en-US" dirty="0">
                <a:solidFill>
                  <a:schemeClr val="bg1"/>
                </a:solidFill>
              </a:rPr>
              <a:t>soft-</a:t>
            </a:r>
            <a:r>
              <a:rPr lang="ru-RU" dirty="0">
                <a:solidFill>
                  <a:schemeClr val="bg1"/>
                </a:solidFill>
              </a:rPr>
              <a:t>кейс или завершает </a:t>
            </a:r>
            <a:r>
              <a:rPr lang="en-US" dirty="0">
                <a:solidFill>
                  <a:schemeClr val="bg1"/>
                </a:solidFill>
              </a:rPr>
              <a:t>soft-</a:t>
            </a:r>
            <a:r>
              <a:rPr lang="ru-RU" dirty="0">
                <a:solidFill>
                  <a:schemeClr val="bg1"/>
                </a:solidFill>
              </a:rPr>
              <a:t>интервью.</a:t>
            </a:r>
          </a:p>
          <a:p>
            <a:r>
              <a:rPr lang="ru-RU" dirty="0">
                <a:solidFill>
                  <a:schemeClr val="bg1"/>
                </a:solidFill>
              </a:rPr>
              <a:t>7. </a:t>
            </a:r>
            <a:r>
              <a:rPr lang="ru-RU" b="1" dirty="0">
                <a:solidFill>
                  <a:schemeClr val="bg1"/>
                </a:solidFill>
              </a:rPr>
              <a:t>Античит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  - Фронтенд отслеживает: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ru-RU" dirty="0">
                <a:solidFill>
                  <a:schemeClr val="bg1"/>
                </a:solidFill>
              </a:rPr>
              <a:t>вставки из буфера обмена (резкие скачки длины кода);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ru-RU" dirty="0">
                <a:solidFill>
                  <a:schemeClr val="bg1"/>
                </a:solidFill>
              </a:rPr>
              <a:t>переключения вкладки и окна (</a:t>
            </a:r>
            <a:r>
              <a:rPr lang="en-US" dirty="0">
                <a:solidFill>
                  <a:schemeClr val="bg1"/>
                </a:solidFill>
              </a:rPr>
              <a:t>events: `</a:t>
            </a:r>
            <a:r>
              <a:rPr lang="en-US" dirty="0" err="1">
                <a:solidFill>
                  <a:schemeClr val="bg1"/>
                </a:solidFill>
              </a:rPr>
              <a:t>tab_switch</a:t>
            </a:r>
            <a:r>
              <a:rPr lang="en-US" dirty="0">
                <a:solidFill>
                  <a:schemeClr val="bg1"/>
                </a:solidFill>
              </a:rPr>
              <a:t>`, `</a:t>
            </a:r>
            <a:r>
              <a:rPr lang="en-US" dirty="0" err="1">
                <a:solidFill>
                  <a:schemeClr val="bg1"/>
                </a:solidFill>
              </a:rPr>
              <a:t>window_blur</a:t>
            </a:r>
            <a:r>
              <a:rPr lang="en-US" dirty="0">
                <a:solidFill>
                  <a:schemeClr val="bg1"/>
                </a:solidFill>
              </a:rPr>
              <a:t>`). → </a:t>
            </a:r>
            <a:r>
              <a:rPr lang="ru-RU" dirty="0">
                <a:solidFill>
                  <a:schemeClr val="bg1"/>
                </a:solidFill>
              </a:rPr>
              <a:t>Эти события отправляются на `</a:t>
            </a:r>
            <a:r>
              <a:rPr lang="en-US" dirty="0">
                <a:solidFill>
                  <a:schemeClr val="bg1"/>
                </a:solidFill>
              </a:rPr>
              <a:t>POST 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anti_cheat_event</a:t>
            </a:r>
            <a:r>
              <a:rPr lang="en-US" dirty="0">
                <a:solidFill>
                  <a:schemeClr val="bg1"/>
                </a:solidFill>
              </a:rPr>
              <a:t>`, backend </a:t>
            </a:r>
            <a:r>
              <a:rPr lang="ru-RU" dirty="0">
                <a:solidFill>
                  <a:schemeClr val="bg1"/>
                </a:solidFill>
              </a:rPr>
              <a:t>сохраняет их в `</a:t>
            </a:r>
            <a:r>
              <a:rPr lang="en-US" dirty="0" err="1">
                <a:solidFill>
                  <a:schemeClr val="bg1"/>
                </a:solidFill>
              </a:rPr>
              <a:t>antiCheat</a:t>
            </a:r>
            <a:r>
              <a:rPr lang="en-US" dirty="0">
                <a:solidFill>
                  <a:schemeClr val="bg1"/>
                </a:solidFill>
              </a:rPr>
              <a:t>["events"]`. → </a:t>
            </a:r>
            <a:r>
              <a:rPr lang="ru-RU" dirty="0">
                <a:solidFill>
                  <a:schemeClr val="bg1"/>
                </a:solidFill>
              </a:rPr>
              <a:t>Параллельно каждые 20 секунд фронтенд отправляет снимки кода на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`</a:t>
            </a:r>
            <a:r>
              <a:rPr lang="en-US" dirty="0">
                <a:solidFill>
                  <a:schemeClr val="bg1"/>
                </a:solidFill>
              </a:rPr>
              <a:t>POST 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anti_cheat_analyze</a:t>
            </a:r>
            <a:r>
              <a:rPr lang="en-US" dirty="0">
                <a:solidFill>
                  <a:schemeClr val="bg1"/>
                </a:solidFill>
              </a:rPr>
              <a:t>`. → Backend </a:t>
            </a:r>
            <a:r>
              <a:rPr lang="ru-RU" dirty="0">
                <a:solidFill>
                  <a:schemeClr val="bg1"/>
                </a:solidFill>
              </a:rPr>
              <a:t>вызывает `</a:t>
            </a:r>
            <a:r>
              <a:rPr lang="en-US" dirty="0" err="1">
                <a:solidFill>
                  <a:schemeClr val="bg1"/>
                </a:solidFill>
              </a:rPr>
              <a:t>analyze_anti_cheat</a:t>
            </a:r>
            <a:r>
              <a:rPr lang="en-US" dirty="0">
                <a:solidFill>
                  <a:schemeClr val="bg1"/>
                </a:solidFill>
              </a:rPr>
              <a:t>`, </a:t>
            </a:r>
            <a:r>
              <a:rPr lang="ru-RU" dirty="0">
                <a:solidFill>
                  <a:schemeClr val="bg1"/>
                </a:solidFill>
              </a:rPr>
              <a:t>получает вероятность списывания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уровень риска и список подозрительных событий, сохраняет в `</a:t>
            </a:r>
            <a:r>
              <a:rPr lang="en-US" dirty="0" err="1">
                <a:solidFill>
                  <a:schemeClr val="bg1"/>
                </a:solidFill>
              </a:rPr>
              <a:t>antiCheat</a:t>
            </a:r>
            <a:r>
              <a:rPr lang="en-US" dirty="0">
                <a:solidFill>
                  <a:schemeClr val="bg1"/>
                </a:solidFill>
              </a:rPr>
              <a:t>`.</a:t>
            </a:r>
          </a:p>
          <a:p>
            <a:r>
              <a:rPr lang="en-US" dirty="0">
                <a:solidFill>
                  <a:schemeClr val="bg1"/>
                </a:solidFill>
              </a:rPr>
              <a:t>8. </a:t>
            </a:r>
            <a:r>
              <a:rPr lang="ru-RU" b="1" dirty="0">
                <a:solidFill>
                  <a:schemeClr val="bg1"/>
                </a:solidFill>
              </a:rPr>
              <a:t>Финальное резюме и </a:t>
            </a:r>
            <a:r>
              <a:rPr lang="en-US" b="1" dirty="0">
                <a:solidFill>
                  <a:schemeClr val="bg1"/>
                </a:solidFill>
              </a:rPr>
              <a:t>PDF-</a:t>
            </a:r>
            <a:r>
              <a:rPr lang="ru-RU" b="1" dirty="0">
                <a:solidFill>
                  <a:schemeClr val="bg1"/>
                </a:solidFill>
              </a:rPr>
              <a:t>отчёт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  - После последнего </a:t>
            </a:r>
            <a:r>
              <a:rPr lang="en-US" dirty="0">
                <a:solidFill>
                  <a:schemeClr val="bg1"/>
                </a:solidFill>
              </a:rPr>
              <a:t>soft-</a:t>
            </a:r>
            <a:r>
              <a:rPr lang="ru-RU" dirty="0">
                <a:solidFill>
                  <a:schemeClr val="bg1"/>
                </a:solidFill>
              </a:rPr>
              <a:t>вопроса </a:t>
            </a:r>
            <a:r>
              <a:rPr lang="en-US" dirty="0">
                <a:solidFill>
                  <a:schemeClr val="bg1"/>
                </a:solidFill>
              </a:rPr>
              <a:t>backend </a:t>
            </a:r>
            <a:r>
              <a:rPr lang="ru-RU" dirty="0">
                <a:solidFill>
                  <a:schemeClr val="bg1"/>
                </a:solidFill>
              </a:rPr>
              <a:t>вызывает `</a:t>
            </a:r>
            <a:r>
              <a:rPr lang="en-US" dirty="0" err="1">
                <a:solidFill>
                  <a:schemeClr val="bg1"/>
                </a:solidFill>
              </a:rPr>
              <a:t>build_final_summary</a:t>
            </a:r>
            <a:r>
              <a:rPr lang="en-US" dirty="0">
                <a:solidFill>
                  <a:schemeClr val="bg1"/>
                </a:solidFill>
              </a:rPr>
              <a:t>`, </a:t>
            </a:r>
            <a:r>
              <a:rPr lang="ru-RU" dirty="0">
                <a:solidFill>
                  <a:schemeClr val="bg1"/>
                </a:solidFill>
              </a:rPr>
              <a:t>который: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ru-RU" dirty="0">
                <a:solidFill>
                  <a:schemeClr val="bg1"/>
                </a:solidFill>
              </a:rPr>
              <a:t>считает среднюю оценку кода и коммуникации;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ru-RU" dirty="0">
                <a:solidFill>
                  <a:schemeClr val="bg1"/>
                </a:solidFill>
              </a:rPr>
              <a:t>агрегирует метрики </a:t>
            </a:r>
            <a:r>
              <a:rPr lang="en-US" dirty="0">
                <a:solidFill>
                  <a:schemeClr val="bg1"/>
                </a:solidFill>
              </a:rPr>
              <a:t>soft-skills; → </a:t>
            </a:r>
            <a:r>
              <a:rPr lang="ru-RU" dirty="0">
                <a:solidFill>
                  <a:schemeClr val="bg1"/>
                </a:solidFill>
              </a:rPr>
              <a:t>анализирует античит (риск, вероятность, статистику);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ru-RU" dirty="0">
                <a:solidFill>
                  <a:schemeClr val="bg1"/>
                </a:solidFill>
              </a:rPr>
              <a:t>рассчитывает интегральный `</a:t>
            </a:r>
            <a:r>
              <a:rPr lang="en-US" dirty="0" err="1">
                <a:solidFill>
                  <a:schemeClr val="bg1"/>
                </a:solidFill>
              </a:rPr>
              <a:t>overall_score</a:t>
            </a:r>
            <a:r>
              <a:rPr lang="en-US" dirty="0">
                <a:solidFill>
                  <a:schemeClr val="bg1"/>
                </a:solidFill>
              </a:rPr>
              <a:t>` </a:t>
            </a:r>
            <a:r>
              <a:rPr lang="ru-RU" dirty="0">
                <a:solidFill>
                  <a:schemeClr val="bg1"/>
                </a:solidFill>
              </a:rPr>
              <a:t>и решение по найму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(`Рекомендован / Условно рекомендован / Не рекомендован`);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ru-RU" dirty="0">
                <a:solidFill>
                  <a:schemeClr val="bg1"/>
                </a:solidFill>
              </a:rPr>
              <a:t>через </a:t>
            </a:r>
            <a:r>
              <a:rPr lang="en-US" dirty="0">
                <a:solidFill>
                  <a:schemeClr val="bg1"/>
                </a:solidFill>
              </a:rPr>
              <a:t>LLM </a:t>
            </a:r>
            <a:r>
              <a:rPr lang="ru-RU" dirty="0">
                <a:solidFill>
                  <a:schemeClr val="bg1"/>
                </a:solidFill>
              </a:rPr>
              <a:t>формирует `</a:t>
            </a:r>
            <a:r>
              <a:rPr lang="en-US" dirty="0">
                <a:solidFill>
                  <a:schemeClr val="bg1"/>
                </a:solidFill>
              </a:rPr>
              <a:t>strengths`, `weaknesses`, `recommendations` </a:t>
            </a:r>
            <a:r>
              <a:rPr lang="ru-RU" dirty="0">
                <a:solidFill>
                  <a:schemeClr val="bg1"/>
                </a:solidFill>
              </a:rPr>
              <a:t>и `</a:t>
            </a:r>
            <a:r>
              <a:rPr lang="en-US" dirty="0">
                <a:solidFill>
                  <a:schemeClr val="bg1"/>
                </a:solidFill>
              </a:rPr>
              <a:t>summary`. → </a:t>
            </a:r>
            <a:r>
              <a:rPr lang="ru-RU" dirty="0">
                <a:solidFill>
                  <a:schemeClr val="bg1"/>
                </a:solidFill>
              </a:rPr>
              <a:t>Затем вызывается `</a:t>
            </a:r>
            <a:r>
              <a:rPr lang="en-US" dirty="0" err="1">
                <a:solidFill>
                  <a:schemeClr val="bg1"/>
                </a:solidFill>
              </a:rPr>
              <a:t>generate_report</a:t>
            </a:r>
            <a:r>
              <a:rPr lang="en-US" dirty="0">
                <a:solidFill>
                  <a:schemeClr val="bg1"/>
                </a:solidFill>
              </a:rPr>
              <a:t>`, </a:t>
            </a:r>
            <a:r>
              <a:rPr lang="ru-RU" dirty="0">
                <a:solidFill>
                  <a:schemeClr val="bg1"/>
                </a:solidFill>
              </a:rPr>
              <a:t>который создаёт </a:t>
            </a:r>
            <a:r>
              <a:rPr lang="en-US" dirty="0">
                <a:solidFill>
                  <a:schemeClr val="bg1"/>
                </a:solidFill>
              </a:rPr>
              <a:t>PDF-</a:t>
            </a:r>
            <a:r>
              <a:rPr lang="ru-RU" dirty="0">
                <a:solidFill>
                  <a:schemeClr val="bg1"/>
                </a:solidFill>
              </a:rPr>
              <a:t>файл в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`</a:t>
            </a:r>
            <a:r>
              <a:rPr lang="en-US" dirty="0">
                <a:solidFill>
                  <a:schemeClr val="bg1"/>
                </a:solidFill>
              </a:rPr>
              <a:t>backend/reports/` </a:t>
            </a:r>
            <a:r>
              <a:rPr lang="ru-RU" dirty="0">
                <a:solidFill>
                  <a:schemeClr val="bg1"/>
                </a:solidFill>
              </a:rPr>
              <a:t>и возвращает путь.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ru-RU" dirty="0" err="1">
                <a:solidFill>
                  <a:schemeClr val="bg1"/>
                </a:solidFill>
              </a:rPr>
              <a:t>Эндпоинт</a:t>
            </a:r>
            <a:r>
              <a:rPr lang="ru-RU" dirty="0">
                <a:solidFill>
                  <a:schemeClr val="bg1"/>
                </a:solidFill>
              </a:rPr>
              <a:t> `</a:t>
            </a:r>
            <a:r>
              <a:rPr lang="en-US" dirty="0">
                <a:solidFill>
                  <a:schemeClr val="bg1"/>
                </a:solidFill>
              </a:rPr>
              <a:t>POST 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soft_answer</a:t>
            </a:r>
            <a:r>
              <a:rPr lang="en-US" dirty="0">
                <a:solidFill>
                  <a:schemeClr val="bg1"/>
                </a:solidFill>
              </a:rPr>
              <a:t>` </a:t>
            </a:r>
            <a:r>
              <a:rPr lang="ru-RU" dirty="0">
                <a:solidFill>
                  <a:schemeClr val="bg1"/>
                </a:solidFill>
              </a:rPr>
              <a:t>в ответе на финальный ответ возвращает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`</a:t>
            </a:r>
            <a:r>
              <a:rPr lang="en-US" dirty="0">
                <a:solidFill>
                  <a:schemeClr val="bg1"/>
                </a:solidFill>
              </a:rPr>
              <a:t>finished: true` </a:t>
            </a:r>
            <a:r>
              <a:rPr lang="ru-RU" dirty="0">
                <a:solidFill>
                  <a:schemeClr val="bg1"/>
                </a:solidFill>
              </a:rPr>
              <a:t>и `</a:t>
            </a:r>
            <a:r>
              <a:rPr lang="en-US" dirty="0">
                <a:solidFill>
                  <a:schemeClr val="bg1"/>
                </a:solidFill>
              </a:rPr>
              <a:t>report: "&lt;</a:t>
            </a:r>
            <a:r>
              <a:rPr lang="ru-RU" dirty="0" err="1">
                <a:solidFill>
                  <a:schemeClr val="bg1"/>
                </a:solidFill>
              </a:rPr>
              <a:t>путь_к</a:t>
            </a:r>
            <a:r>
              <a:rPr lang="ru-RU" dirty="0">
                <a:solidFill>
                  <a:schemeClr val="bg1"/>
                </a:solidFill>
              </a:rPr>
              <a:t>_</a:t>
            </a:r>
            <a:r>
              <a:rPr lang="en-US" dirty="0">
                <a:solidFill>
                  <a:schemeClr val="bg1"/>
                </a:solidFill>
              </a:rPr>
              <a:t>pdf&gt;"`. → </a:t>
            </a:r>
            <a:r>
              <a:rPr lang="ru-RU" dirty="0">
                <a:solidFill>
                  <a:schemeClr val="bg1"/>
                </a:solidFill>
              </a:rPr>
              <a:t>Фронтенд показывает баннер «Интервью завершено» и кнопку/ссылку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для скачивания итогового отчёта.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985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CA8C05F4-76E0-37F2-87B6-4C8F75F41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AC1B14C7-EA16-7DAB-6D9D-59D5D987EB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106316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Обоснование выбранных технологий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A9593-2A16-2A2B-73F7-424818C58C28}"/>
              </a:ext>
            </a:extLst>
          </p:cNvPr>
          <p:cNvSpPr txBox="1"/>
          <p:nvPr/>
        </p:nvSpPr>
        <p:spPr>
          <a:xfrm>
            <a:off x="245098" y="1182231"/>
            <a:ext cx="1169866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- </a:t>
            </a:r>
            <a:r>
              <a:rPr lang="en-US" b="1" dirty="0" err="1">
                <a:solidFill>
                  <a:schemeClr val="bg1"/>
                </a:solidFill>
              </a:rPr>
              <a:t>FastAPI</a:t>
            </a:r>
            <a:r>
              <a:rPr lang="en-US" b="1" dirty="0">
                <a:solidFill>
                  <a:schemeClr val="bg1"/>
                </a:solidFill>
              </a:rPr>
              <a:t> (Python)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высокая скорость разработки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асинхронность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лучше всего подходит под </a:t>
            </a:r>
            <a:r>
              <a:rPr lang="en-US" dirty="0">
                <a:solidFill>
                  <a:schemeClr val="bg1"/>
                </a:solidFill>
              </a:rPr>
              <a:t>LLM-</a:t>
            </a:r>
            <a:r>
              <a:rPr lang="ru-RU" dirty="0">
                <a:solidFill>
                  <a:schemeClr val="bg1"/>
                </a:solidFill>
              </a:rPr>
              <a:t>интеграции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простой </a:t>
            </a:r>
            <a:r>
              <a:rPr lang="ru-RU" dirty="0" err="1">
                <a:solidFill>
                  <a:schemeClr val="bg1"/>
                </a:solidFill>
              </a:rPr>
              <a:t>рантайм</a:t>
            </a:r>
            <a:r>
              <a:rPr lang="ru-RU" dirty="0">
                <a:solidFill>
                  <a:schemeClr val="bg1"/>
                </a:solidFill>
              </a:rPr>
              <a:t> для </a:t>
            </a:r>
            <a:r>
              <a:rPr lang="ru-RU" dirty="0" err="1">
                <a:solidFill>
                  <a:schemeClr val="bg1"/>
                </a:solidFill>
              </a:rPr>
              <a:t>автотестов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Python</a:t>
            </a:r>
          </a:p>
          <a:p>
            <a:r>
              <a:rPr lang="en-US" b="1" dirty="0">
                <a:solidFill>
                  <a:schemeClr val="bg1"/>
                </a:solidFill>
              </a:rPr>
              <a:t>- Node.js Sandbox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безопасный запуск </a:t>
            </a:r>
            <a:r>
              <a:rPr lang="en-US" dirty="0">
                <a:solidFill>
                  <a:schemeClr val="bg1"/>
                </a:solidFill>
              </a:rPr>
              <a:t>JS-</a:t>
            </a:r>
            <a:r>
              <a:rPr lang="ru-RU" dirty="0">
                <a:solidFill>
                  <a:schemeClr val="bg1"/>
                </a:solidFill>
              </a:rPr>
              <a:t>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детерминированный вывод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быстрая компиляция и исполнение</a:t>
            </a:r>
          </a:p>
          <a:p>
            <a:r>
              <a:rPr lang="en-US" b="1" dirty="0">
                <a:solidFill>
                  <a:schemeClr val="bg1"/>
                </a:solidFill>
              </a:rPr>
              <a:t>- React + TypeScript + Vite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идеален для сложной логики </a:t>
            </a:r>
            <a:r>
              <a:rPr lang="en-US" dirty="0">
                <a:solidFill>
                  <a:schemeClr val="bg1"/>
                </a:solidFill>
              </a:rPr>
              <a:t>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TypeScript - </a:t>
            </a:r>
            <a:r>
              <a:rPr lang="ru-RU" dirty="0" err="1">
                <a:solidFill>
                  <a:schemeClr val="bg1"/>
                </a:solidFill>
              </a:rPr>
              <a:t>типобезопасность</a:t>
            </a:r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Встроенная сборка </a:t>
            </a:r>
            <a:r>
              <a:rPr lang="en-US" dirty="0">
                <a:solidFill>
                  <a:schemeClr val="bg1"/>
                </a:solidFill>
              </a:rPr>
              <a:t>Vite - </a:t>
            </a:r>
            <a:r>
              <a:rPr lang="ru-RU" dirty="0">
                <a:solidFill>
                  <a:schemeClr val="bg1"/>
                </a:solidFill>
              </a:rPr>
              <a:t>очень быстрый </a:t>
            </a:r>
            <a:r>
              <a:rPr lang="en-US" dirty="0">
                <a:solidFill>
                  <a:schemeClr val="bg1"/>
                </a:solidFill>
              </a:rPr>
              <a:t>dev-mode</a:t>
            </a:r>
          </a:p>
          <a:p>
            <a:r>
              <a:rPr lang="en-US" b="1" dirty="0">
                <a:solidFill>
                  <a:schemeClr val="bg1"/>
                </a:solidFill>
              </a:rPr>
              <a:t>- LLM (Qwen / OpenAI)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мощный анализ решений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глубокое понимание </a:t>
            </a:r>
            <a:r>
              <a:rPr lang="en-US" dirty="0">
                <a:solidFill>
                  <a:schemeClr val="bg1"/>
                </a:solidFill>
              </a:rPr>
              <a:t>soft-skills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генерация </a:t>
            </a:r>
            <a:r>
              <a:rPr lang="en-US" dirty="0">
                <a:solidFill>
                  <a:schemeClr val="bg1"/>
                </a:solidFill>
              </a:rPr>
              <a:t>structured JSON</a:t>
            </a:r>
          </a:p>
          <a:p>
            <a:r>
              <a:rPr lang="en-US" b="1" dirty="0">
                <a:solidFill>
                  <a:schemeClr val="bg1"/>
                </a:solidFill>
              </a:rPr>
              <a:t>- </a:t>
            </a:r>
            <a:r>
              <a:rPr lang="en-US" b="1" dirty="0" err="1">
                <a:solidFill>
                  <a:schemeClr val="bg1"/>
                </a:solidFill>
              </a:rPr>
              <a:t>ReportLab</a:t>
            </a: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генерирует </a:t>
            </a:r>
            <a:r>
              <a:rPr lang="en-US" dirty="0">
                <a:solidFill>
                  <a:schemeClr val="bg1"/>
                </a:solidFill>
              </a:rPr>
              <a:t>PDF </a:t>
            </a:r>
            <a:r>
              <a:rPr lang="ru-RU" dirty="0">
                <a:solidFill>
                  <a:schemeClr val="bg1"/>
                </a:solidFill>
              </a:rPr>
              <a:t>без внешних зависимостей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полный контроль над версткой отчёта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1472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E7989A80-1C34-C8E4-083D-EC6F9BC0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AB034AF1-E099-AE55-271A-F64E462D0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10631622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Ключевая особенность №1: Интерактивное интервью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42757D-D2FF-263B-422B-5DFD2FA6E9B7}"/>
              </a:ext>
            </a:extLst>
          </p:cNvPr>
          <p:cNvSpPr txBox="1"/>
          <p:nvPr/>
        </p:nvSpPr>
        <p:spPr>
          <a:xfrm>
            <a:off x="246669" y="1621143"/>
            <a:ext cx="426132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Система имитирует реального интервьюера:</a:t>
            </a:r>
            <a:endParaRPr lang="ru-RU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Приветствует кандидата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Выдаёт 3 задачи разной сложности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Реагирует на код и ошибки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Формирует поясняющие вопросы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Оценивает коммуникации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Переходит в </a:t>
            </a:r>
            <a:r>
              <a:rPr lang="ru-RU" sz="1600" dirty="0" err="1">
                <a:solidFill>
                  <a:schemeClr val="bg1"/>
                </a:solidFill>
              </a:rPr>
              <a:t>soft-skills</a:t>
            </a:r>
            <a:r>
              <a:rPr lang="ru-RU" sz="1600" dirty="0">
                <a:solidFill>
                  <a:schemeClr val="bg1"/>
                </a:solidFill>
              </a:rPr>
              <a:t> блок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Формирует итоговый вывод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ru-RU" sz="1600" b="1" dirty="0">
                <a:solidFill>
                  <a:schemeClr val="bg1"/>
                </a:solidFill>
              </a:rPr>
              <a:t>Преимущества:</a:t>
            </a:r>
            <a:endParaRPr lang="ru-RU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минимальная нагрузка на </a:t>
            </a:r>
            <a:r>
              <a:rPr lang="ru-RU" sz="1600" dirty="0" err="1">
                <a:solidFill>
                  <a:schemeClr val="bg1"/>
                </a:solidFill>
              </a:rPr>
              <a:t>техлида</a:t>
            </a:r>
            <a:endParaRPr lang="ru-RU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единый стандарт интервью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прозрачность и объективность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CBE5A1-174B-0475-9C33-C297A972B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009" y="1089104"/>
            <a:ext cx="3056798" cy="481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8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37C8636F-8965-1EDC-A126-7C3C56920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6C6A1663-211D-1D68-7C4D-E74ED1A873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10631622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Ключевая особенность №2: Песочница кода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D859C-58C5-0E37-9B5B-0B277520F684}"/>
              </a:ext>
            </a:extLst>
          </p:cNvPr>
          <p:cNvSpPr txBox="1"/>
          <p:nvPr/>
        </p:nvSpPr>
        <p:spPr>
          <a:xfrm>
            <a:off x="246669" y="1621143"/>
            <a:ext cx="426132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Особенности </a:t>
            </a:r>
            <a:r>
              <a:rPr lang="en-US" sz="1600" dirty="0">
                <a:solidFill>
                  <a:schemeClr val="bg1"/>
                </a:solidFill>
              </a:rPr>
              <a:t>sandbox: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Изолированный запуск </a:t>
            </a:r>
            <a:r>
              <a:rPr lang="en-US" sz="1600" dirty="0">
                <a:solidFill>
                  <a:schemeClr val="bg1"/>
                </a:solidFill>
              </a:rPr>
              <a:t>JS (Node.js)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Изолированный запуск </a:t>
            </a:r>
            <a:r>
              <a:rPr lang="en-US" sz="1600" dirty="0">
                <a:solidFill>
                  <a:schemeClr val="bg1"/>
                </a:solidFill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Таймауты и контроль ресурсов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bg1"/>
                </a:solidFill>
              </a:rPr>
              <a:t>Автотесты</a:t>
            </a:r>
            <a:r>
              <a:rPr lang="ru-RU" sz="1600" dirty="0">
                <a:solidFill>
                  <a:schemeClr val="bg1"/>
                </a:solidFill>
              </a:rPr>
              <a:t> для каждой задачи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Захват </a:t>
            </a:r>
            <a:r>
              <a:rPr lang="en-US" sz="1600" dirty="0" err="1">
                <a:solidFill>
                  <a:schemeClr val="bg1"/>
                </a:solidFill>
              </a:rPr>
              <a:t>stdout</a:t>
            </a:r>
            <a:r>
              <a:rPr lang="en-US" sz="1600" dirty="0">
                <a:solidFill>
                  <a:schemeClr val="bg1"/>
                </a:solidFill>
              </a:rPr>
              <a:t>/stderr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Исправление кодировок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Безопасность: запрещены </a:t>
            </a:r>
            <a:r>
              <a:rPr lang="en-US" sz="1600" dirty="0">
                <a:solidFill>
                  <a:schemeClr val="bg1"/>
                </a:solidFill>
              </a:rPr>
              <a:t>file system / network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28B63C-7CD4-6A94-872F-11114BD24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41" y="4184197"/>
            <a:ext cx="8773749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0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B0A78308-7ABE-D680-D7F8-FF8DB950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039D41AE-37FA-65E3-ABEB-BDEAC3490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106316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Ключевая особенность №3: </a:t>
            </a:r>
            <a:r>
              <a:rPr lang="ru-RU" sz="4000" dirty="0" err="1"/>
              <a:t>Автотесты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FBB11-954A-C42A-3806-F6732FD61847}"/>
              </a:ext>
            </a:extLst>
          </p:cNvPr>
          <p:cNvSpPr txBox="1"/>
          <p:nvPr/>
        </p:nvSpPr>
        <p:spPr>
          <a:xfrm>
            <a:off x="432618" y="2167116"/>
            <a:ext cx="426132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Каждой задаче сопоставлены: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</a:rPr>
              <a:t>visible</a:t>
            </a:r>
            <a:r>
              <a:rPr lang="ru-RU" sz="1600" dirty="0">
                <a:solidFill>
                  <a:schemeClr val="bg1"/>
                </a:solidFill>
              </a:rPr>
              <a:t> тесты (видны кандидату)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</a:rPr>
              <a:t>hidden</a:t>
            </a:r>
            <a:r>
              <a:rPr lang="ru-RU" sz="1600" dirty="0">
                <a:solidFill>
                  <a:schemeClr val="bg1"/>
                </a:solidFill>
              </a:rPr>
              <a:t> тесты (проверка краевых кейсов)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Система определяет: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количество успешных тестов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процент успешности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ошибки исполнения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поведение кода на </a:t>
            </a:r>
            <a:r>
              <a:rPr lang="ru-RU" sz="1600" dirty="0" err="1">
                <a:solidFill>
                  <a:schemeClr val="bg1"/>
                </a:solidFill>
              </a:rPr>
              <a:t>edge-cases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ru-RU" sz="1600" b="1" dirty="0">
                <a:solidFill>
                  <a:schemeClr val="bg1"/>
                </a:solidFill>
              </a:rPr>
              <a:t>Тесты = 30% итоговой оценки задачи.</a:t>
            </a:r>
            <a:endParaRPr lang="ru-RU" sz="1600" dirty="0">
              <a:solidFill>
                <a:schemeClr val="bg1"/>
              </a:solidFill>
            </a:endParaRP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F21E277-A9D2-E50A-1BE4-124AA1EB1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67116"/>
            <a:ext cx="5296639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95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25263BB4-DF02-9C6C-4698-52451D426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5B2B1AE1-F8CF-E8BE-788C-AA0CF11A0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769639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Ключевая особенность №4: LLM-анализ кода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4ACE1-E4A7-E640-DAC9-1E1EE79CE5A6}"/>
              </a:ext>
            </a:extLst>
          </p:cNvPr>
          <p:cNvSpPr txBox="1"/>
          <p:nvPr/>
        </p:nvSpPr>
        <p:spPr>
          <a:xfrm>
            <a:off x="432618" y="2167116"/>
            <a:ext cx="426132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LLM изучает: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корректность алгоритма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сложность (</a:t>
            </a:r>
            <a:r>
              <a:rPr lang="ru-RU" sz="1600" dirty="0" err="1">
                <a:solidFill>
                  <a:schemeClr val="bg1"/>
                </a:solidFill>
              </a:rPr>
              <a:t>big</a:t>
            </a:r>
            <a:r>
              <a:rPr lang="ru-RU" sz="1600" dirty="0">
                <a:solidFill>
                  <a:schemeClr val="bg1"/>
                </a:solidFill>
              </a:rPr>
              <a:t>-O)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качество архитектуры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ошибки в логике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потенциальные уязвимости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стиль и читаемость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соответствие условию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использование языка</a:t>
            </a:r>
          </a:p>
          <a:p>
            <a:r>
              <a:rPr lang="ru-RU" sz="1600" b="1" dirty="0">
                <a:solidFill>
                  <a:schemeClr val="bg1"/>
                </a:solidFill>
              </a:rPr>
              <a:t>Баллы LLM = 70% оценки задачи.</a:t>
            </a:r>
            <a:endParaRPr lang="ru-RU" sz="1600" dirty="0">
              <a:solidFill>
                <a:schemeClr val="bg1"/>
              </a:solidFill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04A3EC-30D5-713B-6A9A-FEC8F78E6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244" y="1155409"/>
            <a:ext cx="5572903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161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A44A184C-E86A-CEC3-F85C-56429DEA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AD31A821-3D99-891B-25E0-5B6F208E57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769639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Ключевая особенность №5: Коммуникация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E58A9-EE3D-AB41-D047-7AF58ECA2B3E}"/>
              </a:ext>
            </a:extLst>
          </p:cNvPr>
          <p:cNvSpPr txBox="1"/>
          <p:nvPr/>
        </p:nvSpPr>
        <p:spPr>
          <a:xfrm>
            <a:off x="432618" y="1816739"/>
            <a:ext cx="426132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После каждого решения система задаёт один уточняющий вопрос:</a:t>
            </a:r>
          </a:p>
          <a:p>
            <a:r>
              <a:rPr lang="ru-RU" sz="1600" dirty="0">
                <a:solidFill>
                  <a:schemeClr val="bg1"/>
                </a:solidFill>
              </a:rPr>
              <a:t>Примеры: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Почему вы выбрали этот подход?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Какие альтернативные решения возможны?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Как бы вы улучшили алгоритм?</a:t>
            </a:r>
          </a:p>
          <a:p>
            <a:r>
              <a:rPr lang="ru-RU" sz="1600" dirty="0">
                <a:solidFill>
                  <a:schemeClr val="bg1"/>
                </a:solidFill>
              </a:rPr>
              <a:t>LLM оценивает: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ясность речи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способность объяснять код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логичность аргументации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структурированность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техническую грамотность</a:t>
            </a:r>
          </a:p>
          <a:p>
            <a:r>
              <a:rPr lang="ru-RU" sz="1600" dirty="0">
                <a:solidFill>
                  <a:schemeClr val="bg1"/>
                </a:solidFill>
              </a:rPr>
              <a:t>Это — </a:t>
            </a:r>
            <a:r>
              <a:rPr lang="ru-RU" sz="1600" b="1" dirty="0">
                <a:solidFill>
                  <a:schemeClr val="bg1"/>
                </a:solidFill>
              </a:rPr>
              <a:t>отдельная метрика</a:t>
            </a:r>
            <a:r>
              <a:rPr lang="ru-RU" sz="1600" dirty="0">
                <a:solidFill>
                  <a:schemeClr val="bg1"/>
                </a:solidFill>
              </a:rPr>
              <a:t>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3C897F-878F-032E-7C49-94694EFF7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971" y="2123893"/>
            <a:ext cx="3915321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18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98B029F2-317E-1D17-4C7C-2211D71A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10C45185-BC1D-D69A-ADDA-03525A2107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769639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Ключевая особенность №6: Soft-</a:t>
            </a:r>
            <a:r>
              <a:rPr lang="ru-RU" sz="4000" dirty="0" err="1"/>
              <a:t>skills</a:t>
            </a:r>
            <a:r>
              <a:rPr lang="ru-RU" sz="4000" dirty="0"/>
              <a:t> интервью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D830A-58A9-CBCF-5D9E-892CC0FC7EC4}"/>
              </a:ext>
            </a:extLst>
          </p:cNvPr>
          <p:cNvSpPr txBox="1"/>
          <p:nvPr/>
        </p:nvSpPr>
        <p:spPr>
          <a:xfrm>
            <a:off x="432618" y="1816739"/>
            <a:ext cx="426132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Для </a:t>
            </a:r>
            <a:r>
              <a:rPr lang="ru-RU" sz="1600" dirty="0" err="1">
                <a:solidFill>
                  <a:schemeClr val="bg1"/>
                </a:solidFill>
              </a:rPr>
              <a:t>soft-skills</a:t>
            </a:r>
            <a:r>
              <a:rPr lang="ru-RU" sz="16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Система отключает редактор 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Показывает карточку ситуации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Кандидат вводит письменный ответ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bg1"/>
              </a:solidFill>
            </a:endParaRPr>
          </a:p>
          <a:p>
            <a:r>
              <a:rPr lang="ru-RU" sz="1600" dirty="0">
                <a:solidFill>
                  <a:schemeClr val="bg1"/>
                </a:solidFill>
              </a:rPr>
              <a:t>LLM оценивает по 5 метрикам: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Коммуникация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Командная работа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Адаптивность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Лидерство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Решение проблем</a:t>
            </a:r>
          </a:p>
          <a:p>
            <a:r>
              <a:rPr lang="ru-RU" sz="1600" dirty="0">
                <a:solidFill>
                  <a:schemeClr val="bg1"/>
                </a:solidFill>
              </a:rPr>
              <a:t>Генерируется интегральный </a:t>
            </a:r>
            <a:r>
              <a:rPr lang="ru-RU" sz="1600" dirty="0" err="1">
                <a:solidFill>
                  <a:schemeClr val="bg1"/>
                </a:solidFill>
              </a:rPr>
              <a:t>soft-skills</a:t>
            </a:r>
            <a:r>
              <a:rPr lang="ru-RU" sz="1600" dirty="0">
                <a:solidFill>
                  <a:schemeClr val="bg1"/>
                </a:solidFill>
              </a:rPr>
              <a:t> балл.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E666F4-6698-4F3C-AE16-4F51BD36F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42" y="1668821"/>
            <a:ext cx="7498058" cy="380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96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9BA3C7F-CF94-D8DF-0277-730CD6F3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AF6043F7-2D29-C8E8-C4BD-944D168B15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769639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Ключевая особенность №7: Античит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C4539-6E72-71F5-187C-79F936096CD1}"/>
              </a:ext>
            </a:extLst>
          </p:cNvPr>
          <p:cNvSpPr txBox="1"/>
          <p:nvPr/>
        </p:nvSpPr>
        <p:spPr>
          <a:xfrm>
            <a:off x="432618" y="1816739"/>
            <a:ext cx="426132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Система следит за: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количеством вставок из буфера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количеством переключений вкладок/окна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длиной кода в динамике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скоростью написания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резкими скачками сложности кода</a:t>
            </a:r>
          </a:p>
          <a:p>
            <a:r>
              <a:rPr lang="ru-RU" sz="1600" dirty="0">
                <a:solidFill>
                  <a:schemeClr val="bg1"/>
                </a:solidFill>
              </a:rPr>
              <a:t>LLM анализирует: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вероятность списывания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уровень риска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духовность 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поведение человека</a:t>
            </a:r>
          </a:p>
          <a:p>
            <a:r>
              <a:rPr lang="ru-RU" sz="1600" dirty="0">
                <a:solidFill>
                  <a:schemeClr val="bg1"/>
                </a:solidFill>
              </a:rPr>
              <a:t>Итог влияет на вердикт.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2A0586-BAED-1084-B479-A56398BEC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997091"/>
            <a:ext cx="5382376" cy="138131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88BEEA-E26B-3C88-A008-A529D8C57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2448292"/>
            <a:ext cx="5382376" cy="398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65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75C61E0D-E381-AAFF-1207-E8C248931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19B47E37-D149-DC42-5F48-7BC3757BF8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769639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Итоговый </a:t>
            </a:r>
            <a:r>
              <a:rPr lang="en-US" sz="4000" dirty="0"/>
              <a:t>PDF-</a:t>
            </a:r>
            <a:r>
              <a:rPr lang="ru-RU" sz="4000" dirty="0"/>
              <a:t>отчёт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52742D-C312-4867-F703-5C8E9BE1A78F}"/>
              </a:ext>
            </a:extLst>
          </p:cNvPr>
          <p:cNvSpPr txBox="1"/>
          <p:nvPr/>
        </p:nvSpPr>
        <p:spPr>
          <a:xfrm>
            <a:off x="432618" y="1816739"/>
            <a:ext cx="4261324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Отчёт содержит: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все задачи и решения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bg1"/>
                </a:solidFill>
              </a:rPr>
              <a:t>stdout</a:t>
            </a:r>
            <a:r>
              <a:rPr lang="ru-RU" sz="1600" dirty="0">
                <a:solidFill>
                  <a:schemeClr val="bg1"/>
                </a:solidFill>
              </a:rPr>
              <a:t>/</a:t>
            </a:r>
            <a:r>
              <a:rPr lang="ru-RU" sz="1600" dirty="0" err="1">
                <a:solidFill>
                  <a:schemeClr val="bg1"/>
                </a:solidFill>
              </a:rPr>
              <a:t>stderr</a:t>
            </a:r>
            <a:endParaRPr lang="ru-RU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bg1"/>
                </a:solidFill>
              </a:rPr>
              <a:t>автотесты</a:t>
            </a:r>
            <a:endParaRPr lang="ru-RU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анализ LLM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вопросы и ответы коммуникаций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bg1"/>
                </a:solidFill>
              </a:rPr>
              <a:t>soft-skills</a:t>
            </a:r>
            <a:r>
              <a:rPr lang="ru-RU" sz="1600" dirty="0">
                <a:solidFill>
                  <a:schemeClr val="bg1"/>
                </a:solidFill>
              </a:rPr>
              <a:t> оценку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античит вывод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bg1"/>
                </a:solidFill>
              </a:rPr>
              <a:t>summary</a:t>
            </a:r>
            <a:r>
              <a:rPr lang="ru-RU" sz="1600" dirty="0">
                <a:solidFill>
                  <a:schemeClr val="bg1"/>
                </a:solidFill>
              </a:rPr>
              <a:t> специалиста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рекомендации по найму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цветовое оформление и фирменный стиль FOTUR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2AB09B-468B-A4E8-C057-96B4D7807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184" y="3595568"/>
            <a:ext cx="5409400" cy="32624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69C449-7B1F-CCA7-476A-95E002518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184" y="1294581"/>
            <a:ext cx="4902920" cy="460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85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85E5FA23-A5D3-90F4-9788-C2E6D73B2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23334951-02EA-B16B-A732-982D0A12D8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769639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Демо интерфейса</a:t>
            </a:r>
            <a:endParaRPr sz="4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274C23-0137-06B3-D3A5-C0354E53A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352790"/>
            <a:ext cx="5444792" cy="328377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E6909C-37DE-C1E8-75AD-D61554290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05" y="1566494"/>
            <a:ext cx="5444791" cy="332204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96FA51-0396-44B0-DE8E-DFC722F05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7" y="352085"/>
            <a:ext cx="5550397" cy="281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40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298EE30-1896-A991-1351-7EDFC772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7855DA85-2DC2-97CA-6AD6-F69F03707C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769639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Результаты тестирования</a:t>
            </a:r>
            <a:endParaRPr sz="40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82C03044-C033-A593-F9AF-9FF3B3F96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70486"/>
              </p:ext>
            </p:extLst>
          </p:nvPr>
        </p:nvGraphicFramePr>
        <p:xfrm>
          <a:off x="521208" y="2429594"/>
          <a:ext cx="50850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2540">
                  <a:extLst>
                    <a:ext uri="{9D8B030D-6E8A-4147-A177-3AD203B41FA5}">
                      <a16:colId xmlns:a16="http://schemas.microsoft.com/office/drawing/2014/main" val="3944583466"/>
                    </a:ext>
                  </a:extLst>
                </a:gridCol>
                <a:gridCol w="2542540">
                  <a:extLst>
                    <a:ext uri="{9D8B030D-6E8A-4147-A177-3AD203B41FA5}">
                      <a16:colId xmlns:a16="http://schemas.microsoft.com/office/drawing/2014/main" val="2202417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Тип кандидата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475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Junior</a:t>
                      </a:r>
                      <a:endParaRPr lang="ru-RU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правильный 1/3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07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Middle</a:t>
                      </a:r>
                      <a:endParaRPr lang="ru-RU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2/3 задач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256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Senior</a:t>
                      </a:r>
                      <a:endParaRPr lang="ru-RU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проходит всё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942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Читер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высокий античит-риск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90451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5D85B5A-1B0B-59B7-3FAB-E40A2E5D8A5F}"/>
              </a:ext>
            </a:extLst>
          </p:cNvPr>
          <p:cNvSpPr txBox="1"/>
          <p:nvPr/>
        </p:nvSpPr>
        <p:spPr>
          <a:xfrm>
            <a:off x="7095744" y="2951946"/>
            <a:ext cx="34227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Выводы: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Система хорошо различает уровни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Предотвращает манипуляции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Объективно оценивает </a:t>
            </a:r>
            <a:r>
              <a:rPr lang="ru-RU" dirty="0" err="1">
                <a:solidFill>
                  <a:schemeClr val="bg1"/>
                </a:solidFill>
              </a:rPr>
              <a:t>soft-skills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899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FED9BDA5-2385-C391-CCAA-F94940CD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88AC4399-B403-582D-ED87-00CB0452F2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769639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Масштабируемость проекта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05756-0EE5-C4BC-C0FE-901428D8F668}"/>
              </a:ext>
            </a:extLst>
          </p:cNvPr>
          <p:cNvSpPr txBox="1"/>
          <p:nvPr/>
        </p:nvSpPr>
        <p:spPr>
          <a:xfrm>
            <a:off x="432618" y="1414403"/>
            <a:ext cx="662655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Горизонтальная масштабируемость:</a:t>
            </a:r>
            <a:endParaRPr lang="ru-RU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backend </a:t>
            </a:r>
            <a:r>
              <a:rPr lang="ru-RU" sz="2000" dirty="0">
                <a:solidFill>
                  <a:schemeClr val="bg1"/>
                </a:solidFill>
              </a:rPr>
              <a:t>может быть развернут в нескольких инстансах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фронтенд </a:t>
            </a:r>
            <a:r>
              <a:rPr lang="en-US" sz="2000" dirty="0">
                <a:solidFill>
                  <a:schemeClr val="bg1"/>
                </a:solidFill>
              </a:rPr>
              <a:t>-</a:t>
            </a:r>
            <a:r>
              <a:rPr lang="ru-RU" sz="2000" dirty="0">
                <a:solidFill>
                  <a:schemeClr val="bg1"/>
                </a:solidFill>
              </a:rPr>
              <a:t> статический, </a:t>
            </a:r>
            <a:r>
              <a:rPr lang="en-US" sz="2000" dirty="0">
                <a:solidFill>
                  <a:schemeClr val="bg1"/>
                </a:solidFill>
              </a:rPr>
              <a:t>CDN-friendly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песочница может быть вынесена в отдельный сервис (</a:t>
            </a:r>
            <a:r>
              <a:rPr lang="en-US" sz="2000" dirty="0">
                <a:solidFill>
                  <a:schemeClr val="bg1"/>
                </a:solidFill>
              </a:rPr>
              <a:t>Docker)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Вертикальная масштабируемость:</a:t>
            </a:r>
            <a:endParaRPr lang="ru-RU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увеличение числа задач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добавление языков (</a:t>
            </a:r>
            <a:r>
              <a:rPr lang="en-US" sz="2000" dirty="0">
                <a:solidFill>
                  <a:schemeClr val="bg1"/>
                </a:solidFill>
              </a:rPr>
              <a:t>Go, Java, C#)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подключение нескольких </a:t>
            </a:r>
            <a:r>
              <a:rPr lang="en-US" sz="2000" dirty="0">
                <a:solidFill>
                  <a:schemeClr val="bg1"/>
                </a:solidFill>
              </a:rPr>
              <a:t>LLM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разделение логики: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Code Analysis Service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Anti-cheat Service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Report Generator Service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7347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B8D9CB29-05ED-46A0-8D28-3FA4F0A0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82992AD2-BFA2-961C-DEB3-850EBFE819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769639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Возможности для развития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6FA84-7EA9-C858-46CD-106436D79827}"/>
              </a:ext>
            </a:extLst>
          </p:cNvPr>
          <p:cNvSpPr txBox="1"/>
          <p:nvPr/>
        </p:nvSpPr>
        <p:spPr>
          <a:xfrm>
            <a:off x="432618" y="1414403"/>
            <a:ext cx="662655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Ближайшие улучшения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Панель администратора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Обучающая статистика для HR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Расширенный античит (</a:t>
            </a:r>
            <a:r>
              <a:rPr lang="ru-RU" sz="2000" dirty="0" err="1">
                <a:solidFill>
                  <a:schemeClr val="bg1"/>
                </a:solidFill>
              </a:rPr>
              <a:t>keystroke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dynamics</a:t>
            </a:r>
            <a:r>
              <a:rPr lang="ru-RU" sz="2000" dirty="0">
                <a:solidFill>
                  <a:schemeClr val="bg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Поддержка SQL, Java, 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Голосовое </a:t>
            </a:r>
            <a:r>
              <a:rPr lang="ru-RU" sz="2000" dirty="0" err="1">
                <a:solidFill>
                  <a:schemeClr val="bg1"/>
                </a:solidFill>
              </a:rPr>
              <a:t>soft-skills</a:t>
            </a:r>
            <a:r>
              <a:rPr lang="ru-RU" sz="2000" dirty="0">
                <a:solidFill>
                  <a:schemeClr val="bg1"/>
                </a:solidFill>
              </a:rPr>
              <a:t> интервью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Долгосрочные планы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Облачный </a:t>
            </a:r>
            <a:r>
              <a:rPr lang="ru-RU" sz="2000" dirty="0" err="1">
                <a:solidFill>
                  <a:schemeClr val="bg1"/>
                </a:solidFill>
              </a:rPr>
              <a:t>SaaS</a:t>
            </a:r>
            <a:r>
              <a:rPr lang="ru-RU" sz="2000" dirty="0">
                <a:solidFill>
                  <a:schemeClr val="bg1"/>
                </a:solidFill>
              </a:rPr>
              <a:t> (</a:t>
            </a:r>
            <a:r>
              <a:rPr lang="ru-RU" sz="2000" dirty="0" err="1">
                <a:solidFill>
                  <a:schemeClr val="bg1"/>
                </a:solidFill>
              </a:rPr>
              <a:t>мультикомпании</a:t>
            </a:r>
            <a:r>
              <a:rPr lang="ru-RU" sz="2000" dirty="0">
                <a:solidFill>
                  <a:schemeClr val="bg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Система массового тестирования (до 10 000 кандидатов)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Автоматическая генерация задач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Интеграция с </a:t>
            </a:r>
            <a:r>
              <a:rPr lang="ru-RU" sz="2000" dirty="0" err="1">
                <a:solidFill>
                  <a:schemeClr val="bg1"/>
                </a:solidFill>
              </a:rPr>
              <a:t>Telegram</a:t>
            </a:r>
            <a:r>
              <a:rPr lang="ru-RU" sz="2000" dirty="0">
                <a:solidFill>
                  <a:schemeClr val="bg1"/>
                </a:solidFill>
              </a:rPr>
              <a:t> / </a:t>
            </a:r>
            <a:r>
              <a:rPr lang="ru-RU" sz="2000" dirty="0" err="1">
                <a:solidFill>
                  <a:schemeClr val="bg1"/>
                </a:solidFill>
              </a:rPr>
              <a:t>Slack</a:t>
            </a:r>
            <a:r>
              <a:rPr lang="ru-RU" sz="2000" dirty="0">
                <a:solidFill>
                  <a:schemeClr val="bg1"/>
                </a:solidFill>
              </a:rPr>
              <a:t> HR ботами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LMS-платформа для обучения и апгрейда навыков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9240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90AAD6D6-7295-E0B9-C3A8-5F062A98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D3E56E71-84B2-EE3A-796E-B2AE61CDE5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769639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Преимущества проекта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3C80E-DDE2-8CB4-844B-A67ECAB01264}"/>
              </a:ext>
            </a:extLst>
          </p:cNvPr>
          <p:cNvSpPr txBox="1"/>
          <p:nvPr/>
        </p:nvSpPr>
        <p:spPr>
          <a:xfrm>
            <a:off x="432618" y="2305615"/>
            <a:ext cx="71203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Полностью автоматизированное интервью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Объективная оценка (LLM + тесты + античит)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Эффективность: экономия 80% времени HR/</a:t>
            </a:r>
            <a:r>
              <a:rPr lang="ru-RU" sz="2000" dirty="0" err="1">
                <a:solidFill>
                  <a:schemeClr val="bg1"/>
                </a:solidFill>
              </a:rPr>
              <a:t>техлидов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Стандартизированный процесс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Масштабируемость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Ценный </a:t>
            </a:r>
            <a:r>
              <a:rPr lang="en-US" sz="2000" dirty="0">
                <a:solidFill>
                  <a:schemeClr val="bg1"/>
                </a:solidFill>
              </a:rPr>
              <a:t>PDF-</a:t>
            </a:r>
            <a:r>
              <a:rPr lang="ru-RU" sz="2000" dirty="0">
                <a:solidFill>
                  <a:schemeClr val="bg1"/>
                </a:solidFill>
              </a:rPr>
              <a:t>отчёт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Высокий UX и удобный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2855996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E0F0B7DA-6799-DF3B-E787-9E22D184C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3AB0C25A-0686-E0B8-495F-EACF69BCB4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618" y="442994"/>
            <a:ext cx="769639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4000" dirty="0"/>
              <a:t>Вывод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22DEE8-26AC-E3B6-9E04-929DA4858191}"/>
              </a:ext>
            </a:extLst>
          </p:cNvPr>
          <p:cNvSpPr txBox="1"/>
          <p:nvPr/>
        </p:nvSpPr>
        <p:spPr>
          <a:xfrm>
            <a:off x="432618" y="1263199"/>
            <a:ext cx="106407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AI HR </a:t>
            </a:r>
            <a:r>
              <a:rPr lang="ru-RU" sz="2000" dirty="0" err="1">
                <a:solidFill>
                  <a:schemeClr val="bg1"/>
                </a:solidFill>
              </a:rPr>
              <a:t>Interview</a:t>
            </a:r>
            <a:r>
              <a:rPr lang="ru-RU" sz="2000" dirty="0">
                <a:solidFill>
                  <a:schemeClr val="bg1"/>
                </a:solidFill>
              </a:rPr>
              <a:t> System — это полноценная интеллектуальная платформа,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которая заменяет ручное техническое интервью и даёт точную, объективную оценку кандидату.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66A60D-49CA-86B7-84CF-F00E44D9C373}"/>
              </a:ext>
            </a:extLst>
          </p:cNvPr>
          <p:cNvSpPr txBox="1"/>
          <p:nvPr/>
        </p:nvSpPr>
        <p:spPr>
          <a:xfrm>
            <a:off x="432618" y="2606624"/>
            <a:ext cx="3042821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Позволяет: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нанимать быстрее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нанимать лучше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исключить субъективность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защититься от читеров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экономить время команды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8593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910C97-8BA5-56C7-946A-48F6BAED3643}"/>
              </a:ext>
            </a:extLst>
          </p:cNvPr>
          <p:cNvSpPr txBox="1"/>
          <p:nvPr/>
        </p:nvSpPr>
        <p:spPr>
          <a:xfrm>
            <a:off x="338328" y="4709160"/>
            <a:ext cx="4724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FOTUR: </a:t>
            </a:r>
            <a:r>
              <a:rPr lang="ru-RU" b="1" dirty="0">
                <a:solidFill>
                  <a:schemeClr val="bg1"/>
                </a:solidFill>
              </a:rPr>
              <a:t>Тур Кирилл, Фомин Кирилл, Воронин Егор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шаблон Т1">
  <a:themeElements>
    <a:clrScheme name="Пользовательские 11">
      <a:dk1>
        <a:srgbClr val="353535"/>
      </a:dk1>
      <a:lt1>
        <a:srgbClr val="FFFFFF"/>
      </a:lt1>
      <a:dk2>
        <a:srgbClr val="005AAA"/>
      </a:dk2>
      <a:lt2>
        <a:srgbClr val="00AAE5"/>
      </a:lt2>
      <a:accent1>
        <a:srgbClr val="C4C4C4"/>
      </a:accent1>
      <a:accent2>
        <a:srgbClr val="11E9B9"/>
      </a:accent2>
      <a:accent3>
        <a:srgbClr val="1DC9E4"/>
      </a:accent3>
      <a:accent4>
        <a:srgbClr val="F47568"/>
      </a:accent4>
      <a:accent5>
        <a:srgbClr val="FECC66"/>
      </a:accent5>
      <a:accent6>
        <a:srgbClr val="8ECC4F"/>
      </a:accent6>
      <a:hlink>
        <a:srgbClr val="00AAE6"/>
      </a:hlink>
      <a:folHlink>
        <a:srgbClr val="005AA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1688</Words>
  <Application>Microsoft Office PowerPoint</Application>
  <PresentationFormat>Широкоэкранный</PresentationFormat>
  <Paragraphs>225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Arial</vt:lpstr>
      <vt:lpstr>Calibri</vt:lpstr>
      <vt:lpstr>Основной шаблон Т1</vt:lpstr>
      <vt:lpstr>Команда FOTUR</vt:lpstr>
      <vt:lpstr>Цели и задачи проекта</vt:lpstr>
      <vt:lpstr>Архитектура проекта (высокоуровневая)</vt:lpstr>
      <vt:lpstr>Архитектура: диаграмма</vt:lpstr>
      <vt:lpstr>Архитектура: диаграмма</vt:lpstr>
      <vt:lpstr>Архитектура: диаграмма</vt:lpstr>
      <vt:lpstr>Обоснование выбранных технологий</vt:lpstr>
      <vt:lpstr>Ключевая особенность №1: Интерактивное интервью</vt:lpstr>
      <vt:lpstr>Ключевая особенность №2: Песочница кода</vt:lpstr>
      <vt:lpstr>Ключевая особенность №3: Автотесты</vt:lpstr>
      <vt:lpstr>Ключевая особенность №4: LLM-анализ кода</vt:lpstr>
      <vt:lpstr>Ключевая особенность №5: Коммуникация</vt:lpstr>
      <vt:lpstr>Ключевая особенность №6: Soft-skills интервью</vt:lpstr>
      <vt:lpstr>Ключевая особенность №7: Античит</vt:lpstr>
      <vt:lpstr>Итоговый PDF-отчёт</vt:lpstr>
      <vt:lpstr>Демо интерфейса</vt:lpstr>
      <vt:lpstr>Результаты тестирования</vt:lpstr>
      <vt:lpstr>Масштабируемость проекта</vt:lpstr>
      <vt:lpstr>Возможности для развития</vt:lpstr>
      <vt:lpstr>Преимущества проекта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woonze</cp:lastModifiedBy>
  <cp:revision>9</cp:revision>
  <dcterms:modified xsi:type="dcterms:W3CDTF">2025-11-27T16:30:33Z</dcterms:modified>
</cp:coreProperties>
</file>